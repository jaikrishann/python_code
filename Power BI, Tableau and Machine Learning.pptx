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9" r:id="rId3"/>
    <p:sldId id="266" r:id="rId4"/>
    <p:sldId id="257" r:id="rId5"/>
    <p:sldId id="258" r:id="rId6"/>
    <p:sldId id="260" r:id="rId7"/>
    <p:sldId id="261" r:id="rId8"/>
    <p:sldId id="262" r:id="rId9"/>
    <p:sldId id="265" r:id="rId10"/>
    <p:sldId id="263" r:id="rId11"/>
    <p:sldId id="264"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43011E-A25B-49B9-B4E5-25A790FACE69}" type="datetimeFigureOut">
              <a:rPr lang="en-IN" smtClean="0"/>
              <a:t>20-03-2025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370286-C9AF-4349-AD27-4A2E43BE663D}" type="slidenum">
              <a:rPr lang="en-IN" smtClean="0"/>
              <a:t>‹#›</a:t>
            </a:fld>
            <a:endParaRPr lang="en-IN"/>
          </a:p>
        </p:txBody>
      </p:sp>
    </p:spTree>
    <p:extLst>
      <p:ext uri="{BB962C8B-B14F-4D97-AF65-F5344CB8AC3E}">
        <p14:creationId xmlns:p14="http://schemas.microsoft.com/office/powerpoint/2010/main" val="1713581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370286-C9AF-4349-AD27-4A2E43BE663D}" type="slidenum">
              <a:rPr lang="en-IN" smtClean="0"/>
              <a:t>5</a:t>
            </a:fld>
            <a:endParaRPr lang="en-IN"/>
          </a:p>
        </p:txBody>
      </p:sp>
    </p:spTree>
    <p:extLst>
      <p:ext uri="{BB962C8B-B14F-4D97-AF65-F5344CB8AC3E}">
        <p14:creationId xmlns:p14="http://schemas.microsoft.com/office/powerpoint/2010/main" val="538383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CFAA8-A371-7CE7-6B66-A59192891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0CD6A4-317B-A897-C6A7-EAD6EB8135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C9ACC6-1561-C06D-489D-BEDB74CF21EA}"/>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5" name="Footer Placeholder 4">
            <a:extLst>
              <a:ext uri="{FF2B5EF4-FFF2-40B4-BE49-F238E27FC236}">
                <a16:creationId xmlns:a16="http://schemas.microsoft.com/office/drawing/2014/main" id="{4513F470-564D-6E0F-B411-604DC8B47F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C7F350-61E5-62E9-0DC4-D1D01AE95B3E}"/>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168195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9CAD-93DF-05A6-2E83-6ECFA0D6EF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257A06-88F4-116F-464A-6C09148FCA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E0F809-24DF-F111-438F-4E8CEE46BE40}"/>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5" name="Footer Placeholder 4">
            <a:extLst>
              <a:ext uri="{FF2B5EF4-FFF2-40B4-BE49-F238E27FC236}">
                <a16:creationId xmlns:a16="http://schemas.microsoft.com/office/drawing/2014/main" id="{8B9314D0-E96C-4E51-BAFA-D94232FAC3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83EF6B-8AC7-0A8E-0838-ED056F889D06}"/>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1973145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3A56-7A23-E4D0-6F39-E113ED1F60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E35681-2098-6B79-18E3-9025B87D43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8061B3-1D9C-1FA3-28FC-FF146DA41E0A}"/>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5" name="Footer Placeholder 4">
            <a:extLst>
              <a:ext uri="{FF2B5EF4-FFF2-40B4-BE49-F238E27FC236}">
                <a16:creationId xmlns:a16="http://schemas.microsoft.com/office/drawing/2014/main" id="{3D6B72B8-E8D2-56C0-5703-EB9849953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B06A18-98C7-DC9E-21D7-A537C1D2D685}"/>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1126018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75D42-9D65-6F17-5055-F47F8245AA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0A68AB-CB34-DFFA-351E-61B8125B3A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2BAB68-FB8B-D7A9-D9F9-6383B61F19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819FF7-356E-5D36-929D-4BB047CC8289}"/>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6" name="Footer Placeholder 5">
            <a:extLst>
              <a:ext uri="{FF2B5EF4-FFF2-40B4-BE49-F238E27FC236}">
                <a16:creationId xmlns:a16="http://schemas.microsoft.com/office/drawing/2014/main" id="{222A2AE1-0643-ECB1-23B0-02F17AC74C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AC95A2-2CB2-5436-9C84-76948FCC651D}"/>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1119062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F191-9073-3D55-F60D-CA24696AD8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A50DAA-7FB4-46FF-A07C-9DD6AECE7E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AF0CAF-C365-25B7-67FA-7DD4C66827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E88BBA-21B3-905B-9A4E-9AF1798707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4A89CE-339F-416D-898C-834200C222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BB6FED-A616-1D05-7F0D-625567861E4A}"/>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8" name="Footer Placeholder 7">
            <a:extLst>
              <a:ext uri="{FF2B5EF4-FFF2-40B4-BE49-F238E27FC236}">
                <a16:creationId xmlns:a16="http://schemas.microsoft.com/office/drawing/2014/main" id="{3250A278-4C87-61EF-33BD-A5501D5EEB4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D06B1D9-20E8-326B-1E70-7CDE9662F134}"/>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225099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86A9-556C-5534-02D2-2A926C6621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5C0164-2B83-BCE6-28A4-E47CBFFC302B}"/>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4" name="Footer Placeholder 3">
            <a:extLst>
              <a:ext uri="{FF2B5EF4-FFF2-40B4-BE49-F238E27FC236}">
                <a16:creationId xmlns:a16="http://schemas.microsoft.com/office/drawing/2014/main" id="{904C336B-F627-BA96-88F1-64FCFBE705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7770C9-4B8B-192F-515A-BA3DF40DFD05}"/>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3294483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1224FA-9FB8-38F8-6541-F26837BCFDAB}"/>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3" name="Footer Placeholder 2">
            <a:extLst>
              <a:ext uri="{FF2B5EF4-FFF2-40B4-BE49-F238E27FC236}">
                <a16:creationId xmlns:a16="http://schemas.microsoft.com/office/drawing/2014/main" id="{2F077C7F-5BC9-AE25-5563-4CC0868295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FA406F-D314-385D-5B65-D64759D53578}"/>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4204307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9C939-F060-00D0-CE2E-E78C5CBF40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F12280-6A5F-BB19-A94F-2F56821888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26AF90-CB42-5076-E2FE-658F07A88D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4B38A6-3920-F040-C545-9E6444BAB4F6}"/>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6" name="Footer Placeholder 5">
            <a:extLst>
              <a:ext uri="{FF2B5EF4-FFF2-40B4-BE49-F238E27FC236}">
                <a16:creationId xmlns:a16="http://schemas.microsoft.com/office/drawing/2014/main" id="{8482D3AD-7563-7BE0-B04B-0D59C77EAE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D6E046-7520-A7C4-DFE8-7FF9D44FA57F}"/>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1953366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D9C9-3BCF-12B7-8BF2-C009C031EB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97193F-C542-BD4E-8380-90213103EA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FBC07B-6A6B-53A7-0BD4-BE7DB326BE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DBC761-A7C6-DC2A-6673-31F1A714CB02}"/>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6" name="Footer Placeholder 5">
            <a:extLst>
              <a:ext uri="{FF2B5EF4-FFF2-40B4-BE49-F238E27FC236}">
                <a16:creationId xmlns:a16="http://schemas.microsoft.com/office/drawing/2014/main" id="{CB48B220-0EA2-8665-D6A9-C4A927E321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57E73C-FE07-DCCC-96B1-2A9A948738E0}"/>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4033155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BA883-80B8-A41A-5BBA-E3CA546077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D02CE1-3865-C28B-A218-F9C468C3C0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8E52BB-3BBE-E279-FF68-177CB2B1AA18}"/>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5" name="Footer Placeholder 4">
            <a:extLst>
              <a:ext uri="{FF2B5EF4-FFF2-40B4-BE49-F238E27FC236}">
                <a16:creationId xmlns:a16="http://schemas.microsoft.com/office/drawing/2014/main" id="{A3984B93-CFC0-EAA7-BEBE-CB9A7D6F37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4A530B-49A0-DC1F-D2A6-8C3AC1CDB5B6}"/>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4010479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5ADABC-983F-76E6-590D-A47981E3F4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030D8D-3077-4E30-131F-71E6BC92F6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C394F3-E65B-5948-AC85-422154C28E0B}"/>
              </a:ext>
            </a:extLst>
          </p:cNvPr>
          <p:cNvSpPr>
            <a:spLocks noGrp="1"/>
          </p:cNvSpPr>
          <p:nvPr>
            <p:ph type="dt" sz="half" idx="10"/>
          </p:nvPr>
        </p:nvSpPr>
        <p:spPr/>
        <p:txBody>
          <a:bodyPr/>
          <a:lstStyle/>
          <a:p>
            <a:fld id="{BE9BD138-AA10-44D9-B3DA-29D05694EF8D}" type="datetimeFigureOut">
              <a:rPr lang="en-IN" smtClean="0"/>
              <a:t>20-03-2025</a:t>
            </a:fld>
            <a:endParaRPr lang="en-IN"/>
          </a:p>
        </p:txBody>
      </p:sp>
      <p:sp>
        <p:nvSpPr>
          <p:cNvPr id="5" name="Footer Placeholder 4">
            <a:extLst>
              <a:ext uri="{FF2B5EF4-FFF2-40B4-BE49-F238E27FC236}">
                <a16:creationId xmlns:a16="http://schemas.microsoft.com/office/drawing/2014/main" id="{6AD50A42-CFAE-187B-954A-56217C05DE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DD45D3-9462-F6A5-FC31-60F9A3676BE0}"/>
              </a:ext>
            </a:extLst>
          </p:cNvPr>
          <p:cNvSpPr>
            <a:spLocks noGrp="1"/>
          </p:cNvSpPr>
          <p:nvPr>
            <p:ph type="sldNum" sz="quarter" idx="12"/>
          </p:nvPr>
        </p:nvSpPr>
        <p:spPr/>
        <p:txBody>
          <a:bodyPr/>
          <a:lstStyle/>
          <a:p>
            <a:fld id="{1B8A6B00-A8E2-4078-BEFE-83183D05261D}" type="slidenum">
              <a:rPr lang="en-IN" smtClean="0"/>
              <a:t>‹#›</a:t>
            </a:fld>
            <a:endParaRPr lang="en-IN"/>
          </a:p>
        </p:txBody>
      </p:sp>
    </p:spTree>
    <p:extLst>
      <p:ext uri="{BB962C8B-B14F-4D97-AF65-F5344CB8AC3E}">
        <p14:creationId xmlns:p14="http://schemas.microsoft.com/office/powerpoint/2010/main" val="2623260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B2BED4-1DE2-3E20-AB83-BECDA19647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77F5D7-BB03-42C8-A951-3611BE055F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60922E-E175-3A77-56FA-FAC63ED298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9BD138-AA10-44D9-B3DA-29D05694EF8D}" type="datetimeFigureOut">
              <a:rPr lang="en-IN" smtClean="0"/>
              <a:t>20-03-2025</a:t>
            </a:fld>
            <a:endParaRPr lang="en-IN"/>
          </a:p>
        </p:txBody>
      </p:sp>
      <p:sp>
        <p:nvSpPr>
          <p:cNvPr id="5" name="Footer Placeholder 4">
            <a:extLst>
              <a:ext uri="{FF2B5EF4-FFF2-40B4-BE49-F238E27FC236}">
                <a16:creationId xmlns:a16="http://schemas.microsoft.com/office/drawing/2014/main" id="{E1ECD474-E908-57B0-D3DA-5584A111D6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7D2633A-D47C-5B1E-EB54-794DBDB52F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8A6B00-A8E2-4078-BEFE-83183D05261D}" type="slidenum">
              <a:rPr lang="en-IN" smtClean="0"/>
              <a:t>‹#›</a:t>
            </a:fld>
            <a:endParaRPr lang="en-IN"/>
          </a:p>
        </p:txBody>
      </p:sp>
    </p:spTree>
    <p:extLst>
      <p:ext uri="{BB962C8B-B14F-4D97-AF65-F5344CB8AC3E}">
        <p14:creationId xmlns:p14="http://schemas.microsoft.com/office/powerpoint/2010/main" val="1929577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theirstack.com/en/technology/power-bi" TargetMode="External"/><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83BD4A-CB41-DCEA-E946-CDECD02A3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85198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04CEF-2E3F-AC50-9BFF-9C56394AF4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958588-6981-777F-855A-6F1835C1D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sp>
        <p:nvSpPr>
          <p:cNvPr id="2" name="TextBox 1">
            <a:extLst>
              <a:ext uri="{FF2B5EF4-FFF2-40B4-BE49-F238E27FC236}">
                <a16:creationId xmlns:a16="http://schemas.microsoft.com/office/drawing/2014/main" id="{9107E533-CFE3-0CE6-EB15-76768AC5E541}"/>
              </a:ext>
            </a:extLst>
          </p:cNvPr>
          <p:cNvSpPr txBox="1"/>
          <p:nvPr/>
        </p:nvSpPr>
        <p:spPr>
          <a:xfrm>
            <a:off x="623150" y="930766"/>
            <a:ext cx="8819536" cy="2000548"/>
          </a:xfrm>
          <a:prstGeom prst="rect">
            <a:avLst/>
          </a:prstGeom>
          <a:noFill/>
        </p:spPr>
        <p:txBody>
          <a:bodyPr wrap="square" rtlCol="0">
            <a:spAutoFit/>
          </a:bodyPr>
          <a:lstStyle/>
          <a:p>
            <a:pPr algn="ctr"/>
            <a:r>
              <a:rPr lang="en-IN" sz="6200" b="1" dirty="0">
                <a:solidFill>
                  <a:schemeClr val="accent2"/>
                </a:solidFill>
                <a:latin typeface="Times New Roman" panose="02020603050405020304" pitchFamily="18" charset="0"/>
                <a:cs typeface="Times New Roman" panose="02020603050405020304" pitchFamily="18" charset="0"/>
              </a:rPr>
              <a:t>Power Bi, Tableau and Machine Learning</a:t>
            </a:r>
          </a:p>
        </p:txBody>
      </p:sp>
      <p:pic>
        <p:nvPicPr>
          <p:cNvPr id="5122" name="Picture 2" descr="What is Power BI? - Beginner's Guide to ...">
            <a:extLst>
              <a:ext uri="{FF2B5EF4-FFF2-40B4-BE49-F238E27FC236}">
                <a16:creationId xmlns:a16="http://schemas.microsoft.com/office/drawing/2014/main" id="{930494FD-8F2E-2151-BE08-80EE39C6F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6436" y="3881130"/>
            <a:ext cx="2152650" cy="212407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5124" name="Picture 4" descr="Tableau Logo, symbol, meaning, history ...">
            <a:extLst>
              <a:ext uri="{FF2B5EF4-FFF2-40B4-BE49-F238E27FC236}">
                <a16:creationId xmlns:a16="http://schemas.microsoft.com/office/drawing/2014/main" id="{19B5D5B6-C14D-904E-5AA9-2295C3EA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6510" y="3900180"/>
            <a:ext cx="2252817" cy="212407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5126" name="Picture 6" descr="Machine Learning Logo Vector Art, Icons ...">
            <a:extLst>
              <a:ext uri="{FF2B5EF4-FFF2-40B4-BE49-F238E27FC236}">
                <a16:creationId xmlns:a16="http://schemas.microsoft.com/office/drawing/2014/main" id="{633CA10D-9071-5AD9-75A2-07D07F9203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6604" y="3881130"/>
            <a:ext cx="2143125" cy="21431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456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15923-AB21-5638-F920-D53875A21F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F39349-0B1D-BB86-7D42-A9AA62201D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sp>
        <p:nvSpPr>
          <p:cNvPr id="2" name="TextBox 1">
            <a:extLst>
              <a:ext uri="{FF2B5EF4-FFF2-40B4-BE49-F238E27FC236}">
                <a16:creationId xmlns:a16="http://schemas.microsoft.com/office/drawing/2014/main" id="{2E554DD2-63E9-7522-D473-727114A04EED}"/>
              </a:ext>
            </a:extLst>
          </p:cNvPr>
          <p:cNvSpPr txBox="1"/>
          <p:nvPr/>
        </p:nvSpPr>
        <p:spPr>
          <a:xfrm>
            <a:off x="334296" y="304799"/>
            <a:ext cx="8819536" cy="1077218"/>
          </a:xfrm>
          <a:prstGeom prst="rect">
            <a:avLst/>
          </a:prstGeom>
          <a:noFill/>
        </p:spPr>
        <p:txBody>
          <a:bodyPr wrap="square" rtlCol="0">
            <a:spAutoFit/>
          </a:bodyPr>
          <a:lstStyle/>
          <a:p>
            <a:pPr algn="ctr"/>
            <a:r>
              <a:rPr lang="en-IN" sz="3200" b="1" dirty="0">
                <a:solidFill>
                  <a:schemeClr val="accent2"/>
                </a:solidFill>
                <a:latin typeface="Times New Roman" panose="02020603050405020304" pitchFamily="18" charset="0"/>
                <a:cs typeface="Times New Roman" panose="02020603050405020304" pitchFamily="18" charset="0"/>
              </a:rPr>
              <a:t>What is Power Bi, Tableau and Machine Learning</a:t>
            </a:r>
          </a:p>
        </p:txBody>
      </p:sp>
      <p:sp>
        <p:nvSpPr>
          <p:cNvPr id="5" name="TextBox 4">
            <a:extLst>
              <a:ext uri="{FF2B5EF4-FFF2-40B4-BE49-F238E27FC236}">
                <a16:creationId xmlns:a16="http://schemas.microsoft.com/office/drawing/2014/main" id="{D171F393-C9D4-A87F-1CA4-529A555B8CED}"/>
              </a:ext>
            </a:extLst>
          </p:cNvPr>
          <p:cNvSpPr txBox="1"/>
          <p:nvPr/>
        </p:nvSpPr>
        <p:spPr>
          <a:xfrm>
            <a:off x="334296" y="2123373"/>
            <a:ext cx="9507794" cy="3046988"/>
          </a:xfrm>
          <a:prstGeom prst="rect">
            <a:avLst/>
          </a:prstGeom>
          <a:noFill/>
        </p:spPr>
        <p:txBody>
          <a:bodyPr wrap="square">
            <a:spAutoFit/>
          </a:bodyPr>
          <a:lstStyle/>
          <a:p>
            <a:r>
              <a:rPr lang="en-US" sz="2400" b="0" i="0" dirty="0">
                <a:solidFill>
                  <a:schemeClr val="bg1"/>
                </a:solidFill>
                <a:effectLst/>
                <a:latin typeface="Times New Roman" panose="02020603050405020304" pitchFamily="18" charset="0"/>
                <a:cs typeface="Times New Roman" panose="02020603050405020304" pitchFamily="18" charset="0"/>
              </a:rPr>
              <a:t>Power BI and Tableau are Business Intelligence (BI) tools used for data analysis and visualization, while machine learning involves using algorithms to enable computers to learn from data and make predictions. </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dirty="0">
                <a:solidFill>
                  <a:schemeClr val="bg1"/>
                </a:solidFill>
                <a:latin typeface="Times New Roman" panose="02020603050405020304" pitchFamily="18" charset="0"/>
                <a:cs typeface="Times New Roman" panose="02020603050405020304" pitchFamily="18" charset="0"/>
              </a:rPr>
              <a:t>Here, Machine Learning is used for Predictive analysis. Machine Learning includes supervised and unsupervised learning. It also uses regression and classification techniques</a:t>
            </a:r>
          </a:p>
          <a:p>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293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87F5E9-7E38-BEA0-B79F-C104EC347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sp>
        <p:nvSpPr>
          <p:cNvPr id="43" name="Text 1">
            <a:extLst>
              <a:ext uri="{FF2B5EF4-FFF2-40B4-BE49-F238E27FC236}">
                <a16:creationId xmlns:a16="http://schemas.microsoft.com/office/drawing/2014/main" id="{8D5EAFB1-8D5A-3C4B-3B54-BC6F3FE7A13C}"/>
              </a:ext>
            </a:extLst>
          </p:cNvPr>
          <p:cNvSpPr/>
          <p:nvPr/>
        </p:nvSpPr>
        <p:spPr>
          <a:xfrm>
            <a:off x="501708" y="1065406"/>
            <a:ext cx="8878266" cy="1451610"/>
          </a:xfrm>
          <a:prstGeom prst="rect">
            <a:avLst/>
          </a:prstGeom>
          <a:noFill/>
          <a:ln/>
        </p:spPr>
        <p:txBody>
          <a:bodyPr wrap="square" lIns="0" tIns="0" rIns="0" bIns="0" rtlCol="0" anchor="t"/>
          <a:lstStyle/>
          <a:p>
            <a:pPr marL="0" indent="0" algn="l">
              <a:lnSpc>
                <a:spcPts val="2850"/>
              </a:lnSpc>
              <a:buNone/>
            </a:pPr>
            <a:r>
              <a:rPr lang="en-US" sz="2400" dirty="0">
                <a:solidFill>
                  <a:srgbClr val="E0D6DE"/>
                </a:solidFill>
                <a:latin typeface="Times New Roman" panose="02020603050405020304" pitchFamily="18" charset="0"/>
                <a:ea typeface="Noto Sans TC" pitchFamily="34" charset="-122"/>
                <a:cs typeface="Times New Roman" panose="02020603050405020304" pitchFamily="18" charset="0"/>
              </a:rPr>
              <a:t>There is a growing demand for data skills. The U.S. Bureau of Labor Statistics projects a 22% job growth in data science by 2030. These skills lead to higher average salaries. Industries like Finance, Healthcare, and Retail are actively seeking these skills.</a:t>
            </a:r>
            <a:endParaRPr lang="en-US" sz="2400"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64EE1290-14C5-6D8B-2FF1-A38A9DB5E1C7}"/>
              </a:ext>
            </a:extLst>
          </p:cNvPr>
          <p:cNvSpPr txBox="1"/>
          <p:nvPr/>
        </p:nvSpPr>
        <p:spPr>
          <a:xfrm>
            <a:off x="389231" y="328736"/>
            <a:ext cx="7781376" cy="584775"/>
          </a:xfrm>
          <a:prstGeom prst="rect">
            <a:avLst/>
          </a:prstGeom>
          <a:noFill/>
        </p:spPr>
        <p:txBody>
          <a:bodyPr wrap="square">
            <a:spAutoFit/>
          </a:bodyPr>
          <a:lstStyle/>
          <a:p>
            <a:r>
              <a:rPr lang="en-IN" sz="3200" b="1" dirty="0">
                <a:solidFill>
                  <a:schemeClr val="accent2"/>
                </a:solidFill>
                <a:latin typeface="Times New Roman" panose="02020603050405020304" pitchFamily="18" charset="0"/>
                <a:cs typeface="Times New Roman" panose="02020603050405020304" pitchFamily="18" charset="0"/>
              </a:rPr>
              <a:t>The Rising Demand for Data Skills</a:t>
            </a:r>
          </a:p>
        </p:txBody>
      </p:sp>
      <p:pic>
        <p:nvPicPr>
          <p:cNvPr id="63" name="Picture 62">
            <a:extLst>
              <a:ext uri="{FF2B5EF4-FFF2-40B4-BE49-F238E27FC236}">
                <a16:creationId xmlns:a16="http://schemas.microsoft.com/office/drawing/2014/main" id="{C76DDFA2-0A51-0A69-427A-33F067C23B8D}"/>
              </a:ext>
            </a:extLst>
          </p:cNvPr>
          <p:cNvPicPr>
            <a:picLocks noChangeAspect="1"/>
          </p:cNvPicPr>
          <p:nvPr/>
        </p:nvPicPr>
        <p:blipFill>
          <a:blip r:embed="rId3">
            <a:extLst>
              <a:ext uri="{28A0092B-C50C-407E-A947-70E740481C1C}">
                <a14:useLocalDpi xmlns:a14="http://schemas.microsoft.com/office/drawing/2010/main" val="0"/>
              </a:ext>
            </a:extLst>
          </a:blip>
          <a:srcRect r="37846"/>
          <a:stretch/>
        </p:blipFill>
        <p:spPr>
          <a:xfrm>
            <a:off x="3696930" y="2861442"/>
            <a:ext cx="5958348" cy="36678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1824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56108-823C-183E-8BEC-ACA1ED54C1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B02B0F6-60A9-FBA3-A68B-B1FA6EA8AC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sp>
        <p:nvSpPr>
          <p:cNvPr id="2" name="Text 0">
            <a:extLst>
              <a:ext uri="{FF2B5EF4-FFF2-40B4-BE49-F238E27FC236}">
                <a16:creationId xmlns:a16="http://schemas.microsoft.com/office/drawing/2014/main" id="{0B3C2424-D359-1EC4-E479-C5D39B0D7644}"/>
              </a:ext>
            </a:extLst>
          </p:cNvPr>
          <p:cNvSpPr/>
          <p:nvPr/>
        </p:nvSpPr>
        <p:spPr>
          <a:xfrm>
            <a:off x="449661" y="256956"/>
            <a:ext cx="8507526" cy="708660"/>
          </a:xfrm>
          <a:prstGeom prst="rect">
            <a:avLst/>
          </a:prstGeom>
          <a:noFill/>
          <a:ln/>
        </p:spPr>
        <p:txBody>
          <a:bodyPr wrap="square" lIns="0" tIns="0" rIns="0" bIns="0" rtlCol="0" anchor="t"/>
          <a:lstStyle/>
          <a:p>
            <a:pPr marL="0" indent="0" algn="l">
              <a:lnSpc>
                <a:spcPts val="5550"/>
              </a:lnSpc>
              <a:buNone/>
            </a:pPr>
            <a:r>
              <a:rPr lang="en-US" sz="4450" b="1" dirty="0">
                <a:solidFill>
                  <a:schemeClr val="accent2"/>
                </a:solidFill>
                <a:latin typeface="Sora Medium" pitchFamily="34" charset="0"/>
                <a:cs typeface="Sora Medium" pitchFamily="34" charset="-120"/>
              </a:rPr>
              <a:t>High demand of Data Analytics</a:t>
            </a:r>
            <a:endParaRPr lang="en-US" sz="4450" b="1" dirty="0">
              <a:solidFill>
                <a:schemeClr val="accent2"/>
              </a:solidFill>
            </a:endParaRPr>
          </a:p>
        </p:txBody>
      </p:sp>
      <p:pic>
        <p:nvPicPr>
          <p:cNvPr id="12" name="Picture 11">
            <a:extLst>
              <a:ext uri="{FF2B5EF4-FFF2-40B4-BE49-F238E27FC236}">
                <a16:creationId xmlns:a16="http://schemas.microsoft.com/office/drawing/2014/main" id="{22AE3D17-8C41-F8A7-3D5D-87188CF0DBBD}"/>
              </a:ext>
            </a:extLst>
          </p:cNvPr>
          <p:cNvPicPr>
            <a:picLocks noChangeAspect="1"/>
          </p:cNvPicPr>
          <p:nvPr/>
        </p:nvPicPr>
        <p:blipFill>
          <a:blip r:embed="rId4"/>
          <a:stretch>
            <a:fillRect/>
          </a:stretch>
        </p:blipFill>
        <p:spPr>
          <a:xfrm>
            <a:off x="652349" y="1222572"/>
            <a:ext cx="10887301" cy="49717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62947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B6937-ABA2-B84E-DC99-D37C02F794B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AFF1C9-DB3C-E71E-5190-356D056B9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pic>
        <p:nvPicPr>
          <p:cNvPr id="5" name="Picture 4">
            <a:extLst>
              <a:ext uri="{FF2B5EF4-FFF2-40B4-BE49-F238E27FC236}">
                <a16:creationId xmlns:a16="http://schemas.microsoft.com/office/drawing/2014/main" id="{A6E9C481-13C9-24F7-3C37-7D8C2363C31D}"/>
              </a:ext>
            </a:extLst>
          </p:cNvPr>
          <p:cNvPicPr>
            <a:picLocks noChangeAspect="1"/>
          </p:cNvPicPr>
          <p:nvPr/>
        </p:nvPicPr>
        <p:blipFill>
          <a:blip r:embed="rId3"/>
          <a:stretch>
            <a:fillRect/>
          </a:stretch>
        </p:blipFill>
        <p:spPr>
          <a:xfrm>
            <a:off x="1092890" y="1563329"/>
            <a:ext cx="10420683" cy="50315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 0">
            <a:extLst>
              <a:ext uri="{FF2B5EF4-FFF2-40B4-BE49-F238E27FC236}">
                <a16:creationId xmlns:a16="http://schemas.microsoft.com/office/drawing/2014/main" id="{33A6722F-6B8D-96B0-AC19-776376EC2FD3}"/>
              </a:ext>
            </a:extLst>
          </p:cNvPr>
          <p:cNvSpPr/>
          <p:nvPr/>
        </p:nvSpPr>
        <p:spPr>
          <a:xfrm>
            <a:off x="606977" y="263138"/>
            <a:ext cx="8507526" cy="708660"/>
          </a:xfrm>
          <a:prstGeom prst="rect">
            <a:avLst/>
          </a:prstGeom>
          <a:noFill/>
          <a:ln/>
        </p:spPr>
        <p:txBody>
          <a:bodyPr wrap="square" lIns="0" tIns="0" rIns="0" bIns="0" rtlCol="0" anchor="t"/>
          <a:lstStyle/>
          <a:p>
            <a:pPr marL="0" indent="0" algn="ctr">
              <a:buNone/>
            </a:pPr>
            <a:r>
              <a:rPr lang="en-US" sz="3200" b="1" dirty="0">
                <a:solidFill>
                  <a:schemeClr val="accent2"/>
                </a:solidFill>
                <a:latin typeface="Times New Roman" panose="02020603050405020304" pitchFamily="18" charset="0"/>
                <a:cs typeface="Times New Roman" panose="02020603050405020304" pitchFamily="18" charset="0"/>
              </a:rPr>
              <a:t>Where Power BI and Tableau stands in current market :</a:t>
            </a:r>
          </a:p>
        </p:txBody>
      </p:sp>
    </p:spTree>
    <p:extLst>
      <p:ext uri="{BB962C8B-B14F-4D97-AF65-F5344CB8AC3E}">
        <p14:creationId xmlns:p14="http://schemas.microsoft.com/office/powerpoint/2010/main" val="1620527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7813-0AFA-2875-3A1E-CB819617C30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B16E3DD-D6BB-599D-3B34-44A605B713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sp>
        <p:nvSpPr>
          <p:cNvPr id="4" name="TextBox 3">
            <a:extLst>
              <a:ext uri="{FF2B5EF4-FFF2-40B4-BE49-F238E27FC236}">
                <a16:creationId xmlns:a16="http://schemas.microsoft.com/office/drawing/2014/main" id="{4C92FB43-BCDB-2B91-62E3-3E034D9A1BD9}"/>
              </a:ext>
            </a:extLst>
          </p:cNvPr>
          <p:cNvSpPr txBox="1"/>
          <p:nvPr/>
        </p:nvSpPr>
        <p:spPr>
          <a:xfrm>
            <a:off x="452282" y="1068701"/>
            <a:ext cx="6096000" cy="369332"/>
          </a:xfrm>
          <a:prstGeom prst="rect">
            <a:avLst/>
          </a:prstGeom>
          <a:noFill/>
        </p:spPr>
        <p:txBody>
          <a:bodyPr wrap="square">
            <a:spAutoFit/>
          </a:bodyPr>
          <a:lstStyle/>
          <a:p>
            <a:r>
              <a:rPr lang="en-IN" dirty="0">
                <a:solidFill>
                  <a:schemeClr val="accent2"/>
                </a:solidFill>
                <a:hlinkClick r:id="rId3">
                  <a:extLst>
                    <a:ext uri="{A12FA001-AC4F-418D-AE19-62706E023703}">
                      <ahyp:hlinkClr xmlns:ahyp="http://schemas.microsoft.com/office/drawing/2018/hyperlinkcolor" val="tx"/>
                    </a:ext>
                  </a:extLst>
                </a:hlinkClick>
              </a:rPr>
              <a:t>https://theirstack.com/en/technology/power-bi</a:t>
            </a:r>
            <a:endParaRPr lang="en-IN" dirty="0">
              <a:solidFill>
                <a:schemeClr val="accent2"/>
              </a:solidFill>
            </a:endParaRPr>
          </a:p>
        </p:txBody>
      </p:sp>
      <p:sp>
        <p:nvSpPr>
          <p:cNvPr id="5" name="TextBox 4">
            <a:extLst>
              <a:ext uri="{FF2B5EF4-FFF2-40B4-BE49-F238E27FC236}">
                <a16:creationId xmlns:a16="http://schemas.microsoft.com/office/drawing/2014/main" id="{B14C4D22-0E6E-C23D-CFAA-7DB1E6A49889}"/>
              </a:ext>
            </a:extLst>
          </p:cNvPr>
          <p:cNvSpPr txBox="1"/>
          <p:nvPr/>
        </p:nvSpPr>
        <p:spPr>
          <a:xfrm>
            <a:off x="314632" y="334296"/>
            <a:ext cx="8298425" cy="584775"/>
          </a:xfrm>
          <a:prstGeom prst="rect">
            <a:avLst/>
          </a:prstGeom>
          <a:noFill/>
        </p:spPr>
        <p:txBody>
          <a:bodyPr wrap="square" rtlCol="0">
            <a:spAutoFit/>
          </a:bodyPr>
          <a:lstStyle/>
          <a:p>
            <a:r>
              <a:rPr lang="en-IN" sz="3200" b="1" dirty="0">
                <a:solidFill>
                  <a:schemeClr val="accent2"/>
                </a:solidFill>
                <a:latin typeface="Times New Roman" panose="02020603050405020304" pitchFamily="18" charset="0"/>
                <a:cs typeface="Times New Roman" panose="02020603050405020304" pitchFamily="18" charset="0"/>
              </a:rPr>
              <a:t>List of companies using Power Bi </a:t>
            </a:r>
          </a:p>
        </p:txBody>
      </p:sp>
      <p:pic>
        <p:nvPicPr>
          <p:cNvPr id="7" name="Picture 6">
            <a:extLst>
              <a:ext uri="{FF2B5EF4-FFF2-40B4-BE49-F238E27FC236}">
                <a16:creationId xmlns:a16="http://schemas.microsoft.com/office/drawing/2014/main" id="{8C44A06E-9DA8-5855-B110-668615FADD36}"/>
              </a:ext>
            </a:extLst>
          </p:cNvPr>
          <p:cNvPicPr>
            <a:picLocks noChangeAspect="1"/>
          </p:cNvPicPr>
          <p:nvPr/>
        </p:nvPicPr>
        <p:blipFill>
          <a:blip r:embed="rId4"/>
          <a:stretch>
            <a:fillRect/>
          </a:stretch>
        </p:blipFill>
        <p:spPr>
          <a:xfrm>
            <a:off x="452282" y="1472380"/>
            <a:ext cx="11385757" cy="48323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15042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93C32-976A-FED9-D0E4-003EDECBCD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A7EE79-4D71-6925-D1E0-F0227583CC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209626" cy="6858000"/>
          </a:xfrm>
          <a:prstGeom prst="rect">
            <a:avLst/>
          </a:prstGeom>
        </p:spPr>
      </p:pic>
      <p:sp>
        <p:nvSpPr>
          <p:cNvPr id="2" name="TextBox 1">
            <a:extLst>
              <a:ext uri="{FF2B5EF4-FFF2-40B4-BE49-F238E27FC236}">
                <a16:creationId xmlns:a16="http://schemas.microsoft.com/office/drawing/2014/main" id="{B6A5FE7B-4BD0-7528-8717-9AA2E2023FC4}"/>
              </a:ext>
            </a:extLst>
          </p:cNvPr>
          <p:cNvSpPr txBox="1"/>
          <p:nvPr/>
        </p:nvSpPr>
        <p:spPr>
          <a:xfrm>
            <a:off x="314632" y="334296"/>
            <a:ext cx="8298425" cy="584775"/>
          </a:xfrm>
          <a:prstGeom prst="rect">
            <a:avLst/>
          </a:prstGeom>
          <a:noFill/>
        </p:spPr>
        <p:txBody>
          <a:bodyPr wrap="square" rtlCol="0">
            <a:spAutoFit/>
          </a:bodyPr>
          <a:lstStyle/>
          <a:p>
            <a:r>
              <a:rPr lang="en-IN" sz="3200" b="1" dirty="0">
                <a:solidFill>
                  <a:schemeClr val="accent2"/>
                </a:solidFill>
                <a:latin typeface="Times New Roman" panose="02020603050405020304" pitchFamily="18" charset="0"/>
                <a:cs typeface="Times New Roman" panose="02020603050405020304" pitchFamily="18" charset="0"/>
              </a:rPr>
              <a:t>Salary Expectation according to 2024 insights </a:t>
            </a:r>
          </a:p>
        </p:txBody>
      </p:sp>
      <p:pic>
        <p:nvPicPr>
          <p:cNvPr id="4098" name="Picture 2" descr="Data Analyst Salary in India - 2024 - Overview">
            <a:extLst>
              <a:ext uri="{FF2B5EF4-FFF2-40B4-BE49-F238E27FC236}">
                <a16:creationId xmlns:a16="http://schemas.microsoft.com/office/drawing/2014/main" id="{6C83CD3E-E68E-29F9-8001-1BC92A6B3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032" y="1325358"/>
            <a:ext cx="11257936" cy="49279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834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E0E8-C010-E137-CD99-BAA686F49A8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49F3EF-4651-6091-BE63-199F9B63F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pic>
        <p:nvPicPr>
          <p:cNvPr id="4" name="Picture 3">
            <a:extLst>
              <a:ext uri="{FF2B5EF4-FFF2-40B4-BE49-F238E27FC236}">
                <a16:creationId xmlns:a16="http://schemas.microsoft.com/office/drawing/2014/main" id="{CD1250EA-3BB7-7F54-202B-C5D1F34BF26B}"/>
              </a:ext>
            </a:extLst>
          </p:cNvPr>
          <p:cNvPicPr>
            <a:picLocks noChangeAspect="1"/>
          </p:cNvPicPr>
          <p:nvPr/>
        </p:nvPicPr>
        <p:blipFill>
          <a:blip r:embed="rId3"/>
          <a:stretch>
            <a:fillRect/>
          </a:stretch>
        </p:blipFill>
        <p:spPr>
          <a:xfrm>
            <a:off x="299884" y="1337187"/>
            <a:ext cx="11592232" cy="52075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91EDA4B6-5AD3-3D6B-1AB5-09EDDAF21452}"/>
              </a:ext>
            </a:extLst>
          </p:cNvPr>
          <p:cNvSpPr txBox="1"/>
          <p:nvPr/>
        </p:nvSpPr>
        <p:spPr>
          <a:xfrm>
            <a:off x="314632" y="334296"/>
            <a:ext cx="8298425" cy="584775"/>
          </a:xfrm>
          <a:prstGeom prst="rect">
            <a:avLst/>
          </a:prstGeom>
          <a:noFill/>
        </p:spPr>
        <p:txBody>
          <a:bodyPr wrap="square" rtlCol="0">
            <a:spAutoFit/>
          </a:bodyPr>
          <a:lstStyle/>
          <a:p>
            <a:r>
              <a:rPr lang="en-IN" sz="3200" b="1" dirty="0">
                <a:solidFill>
                  <a:schemeClr val="accent2"/>
                </a:solidFill>
                <a:latin typeface="Times New Roman" panose="02020603050405020304" pitchFamily="18" charset="0"/>
                <a:cs typeface="Times New Roman" panose="02020603050405020304" pitchFamily="18" charset="0"/>
              </a:rPr>
              <a:t>Job roles for Data Analyst</a:t>
            </a:r>
          </a:p>
        </p:txBody>
      </p:sp>
    </p:spTree>
    <p:extLst>
      <p:ext uri="{BB962C8B-B14F-4D97-AF65-F5344CB8AC3E}">
        <p14:creationId xmlns:p14="http://schemas.microsoft.com/office/powerpoint/2010/main" val="1240132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05006-89D5-C1AC-34C9-59AE857D474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605F455-8061-5C78-F5EB-1BD475497C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pic>
        <p:nvPicPr>
          <p:cNvPr id="6146" name="Picture 2" descr="10 Key Skills That Data Analysts Need to Master | FineReport">
            <a:extLst>
              <a:ext uri="{FF2B5EF4-FFF2-40B4-BE49-F238E27FC236}">
                <a16:creationId xmlns:a16="http://schemas.microsoft.com/office/drawing/2014/main" id="{78A38C7A-0483-4619-1AC0-87B1F1042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9225" y="1253367"/>
            <a:ext cx="7923263" cy="50328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755E2C1-C5D2-1149-7E69-99EE51771A89}"/>
              </a:ext>
            </a:extLst>
          </p:cNvPr>
          <p:cNvSpPr txBox="1"/>
          <p:nvPr/>
        </p:nvSpPr>
        <p:spPr>
          <a:xfrm>
            <a:off x="334296" y="176149"/>
            <a:ext cx="8298425" cy="1077218"/>
          </a:xfrm>
          <a:prstGeom prst="rect">
            <a:avLst/>
          </a:prstGeom>
          <a:noFill/>
        </p:spPr>
        <p:txBody>
          <a:bodyPr wrap="square" rtlCol="0">
            <a:spAutoFit/>
          </a:bodyPr>
          <a:lstStyle/>
          <a:p>
            <a:r>
              <a:rPr lang="en-IN" sz="3200" b="1" dirty="0">
                <a:solidFill>
                  <a:schemeClr val="accent2"/>
                </a:solidFill>
                <a:latin typeface="Times New Roman" panose="02020603050405020304" pitchFamily="18" charset="0"/>
                <a:cs typeface="Times New Roman" panose="02020603050405020304" pitchFamily="18" charset="0"/>
              </a:rPr>
              <a:t>Skills need for Data Analyst according to leading companies</a:t>
            </a:r>
          </a:p>
        </p:txBody>
      </p:sp>
    </p:spTree>
    <p:extLst>
      <p:ext uri="{BB962C8B-B14F-4D97-AF65-F5344CB8AC3E}">
        <p14:creationId xmlns:p14="http://schemas.microsoft.com/office/powerpoint/2010/main" val="1096361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7D0E9-1E26-ED64-3B13-6B9D0D5D6F0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3162609-53D7-FCDF-3D02-20EDBD8A1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sp>
        <p:nvSpPr>
          <p:cNvPr id="2" name="TextBox 1">
            <a:extLst>
              <a:ext uri="{FF2B5EF4-FFF2-40B4-BE49-F238E27FC236}">
                <a16:creationId xmlns:a16="http://schemas.microsoft.com/office/drawing/2014/main" id="{A99287EF-646E-F62B-EB8F-FB1111136B3B}"/>
              </a:ext>
            </a:extLst>
          </p:cNvPr>
          <p:cNvSpPr txBox="1"/>
          <p:nvPr/>
        </p:nvSpPr>
        <p:spPr>
          <a:xfrm>
            <a:off x="521110" y="305044"/>
            <a:ext cx="8613058" cy="584775"/>
          </a:xfrm>
          <a:prstGeom prst="rect">
            <a:avLst/>
          </a:prstGeom>
          <a:noFill/>
        </p:spPr>
        <p:txBody>
          <a:bodyPr wrap="square" rtlCol="0">
            <a:spAutoFit/>
          </a:bodyPr>
          <a:lstStyle/>
          <a:p>
            <a:r>
              <a:rPr lang="en-IN" sz="3200" b="1" dirty="0">
                <a:solidFill>
                  <a:schemeClr val="accent2"/>
                </a:solidFill>
                <a:latin typeface="Times New Roman" panose="02020603050405020304" pitchFamily="18" charset="0"/>
                <a:cs typeface="Times New Roman" panose="02020603050405020304" pitchFamily="18" charset="0"/>
              </a:rPr>
              <a:t>Example Insights of Data Analytics Dashboard</a:t>
            </a:r>
          </a:p>
        </p:txBody>
      </p:sp>
      <p:pic>
        <p:nvPicPr>
          <p:cNvPr id="5" name="Picture 4">
            <a:extLst>
              <a:ext uri="{FF2B5EF4-FFF2-40B4-BE49-F238E27FC236}">
                <a16:creationId xmlns:a16="http://schemas.microsoft.com/office/drawing/2014/main" id="{6594F8AD-CCD9-76DB-F7D8-F7C0097E4D0A}"/>
              </a:ext>
            </a:extLst>
          </p:cNvPr>
          <p:cNvPicPr>
            <a:picLocks noChangeAspect="1"/>
          </p:cNvPicPr>
          <p:nvPr/>
        </p:nvPicPr>
        <p:blipFill>
          <a:blip r:embed="rId3"/>
          <a:stretch>
            <a:fillRect/>
          </a:stretch>
        </p:blipFill>
        <p:spPr>
          <a:xfrm>
            <a:off x="381000" y="1189703"/>
            <a:ext cx="11430000" cy="5368413"/>
          </a:xfrm>
          <a:prstGeom prst="roundRect">
            <a:avLst>
              <a:gd name="adj" fmla="val 3283"/>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42575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52624-F7DA-0E9F-CFE6-DEA56EFB70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387091-D419-C02D-B46C-22AC9BD7F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0"/>
            <a:ext cx="12187646" cy="6858000"/>
          </a:xfrm>
          <a:prstGeom prst="rect">
            <a:avLst/>
          </a:prstGeom>
        </p:spPr>
      </p:pic>
      <p:sp>
        <p:nvSpPr>
          <p:cNvPr id="2" name="TextBox 1">
            <a:extLst>
              <a:ext uri="{FF2B5EF4-FFF2-40B4-BE49-F238E27FC236}">
                <a16:creationId xmlns:a16="http://schemas.microsoft.com/office/drawing/2014/main" id="{B35EBE33-1C70-C1ED-B747-CBB990ADF8C1}"/>
              </a:ext>
            </a:extLst>
          </p:cNvPr>
          <p:cNvSpPr txBox="1"/>
          <p:nvPr/>
        </p:nvSpPr>
        <p:spPr>
          <a:xfrm>
            <a:off x="632982" y="2382560"/>
            <a:ext cx="8819536" cy="1046440"/>
          </a:xfrm>
          <a:prstGeom prst="rect">
            <a:avLst/>
          </a:prstGeom>
          <a:noFill/>
        </p:spPr>
        <p:txBody>
          <a:bodyPr wrap="square" rtlCol="0">
            <a:spAutoFit/>
          </a:bodyPr>
          <a:lstStyle/>
          <a:p>
            <a:pPr algn="ctr"/>
            <a:r>
              <a:rPr lang="en-IN" sz="6200" b="1" dirty="0">
                <a:solidFill>
                  <a:schemeClr val="accent2"/>
                </a:solidFill>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1590072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196</Words>
  <Application>Microsoft Office PowerPoint</Application>
  <PresentationFormat>Widescreen</PresentationFormat>
  <Paragraphs>17</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Sora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Nikita Jangid</dc:creator>
  <cp:lastModifiedBy>Nikita Jangid</cp:lastModifiedBy>
  <cp:revision>1</cp:revision>
  <dcterms:created xsi:type="dcterms:W3CDTF">2025-03-20T09:56:13Z</dcterms:created>
  <dcterms:modified xsi:type="dcterms:W3CDTF">2025-03-20T11:06:26Z</dcterms:modified>
</cp:coreProperties>
</file>