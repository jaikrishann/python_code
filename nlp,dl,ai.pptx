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34"/>
  </p:notesMasterIdLst>
  <p:sldIdLst>
    <p:sldId id="256" r:id="rId3"/>
    <p:sldId id="259" r:id="rId4"/>
    <p:sldId id="300" r:id="rId5"/>
    <p:sldId id="301" r:id="rId6"/>
    <p:sldId id="302" r:id="rId7"/>
    <p:sldId id="384" r:id="rId8"/>
    <p:sldId id="373" r:id="rId9"/>
    <p:sldId id="298" r:id="rId10"/>
    <p:sldId id="376" r:id="rId11"/>
    <p:sldId id="374" r:id="rId12"/>
    <p:sldId id="375" r:id="rId13"/>
    <p:sldId id="377" r:id="rId14"/>
    <p:sldId id="285" r:id="rId15"/>
    <p:sldId id="299" r:id="rId16"/>
    <p:sldId id="288" r:id="rId17"/>
    <p:sldId id="292" r:id="rId18"/>
    <p:sldId id="383" r:id="rId19"/>
    <p:sldId id="386" r:id="rId20"/>
    <p:sldId id="385" r:id="rId21"/>
    <p:sldId id="296" r:id="rId22"/>
    <p:sldId id="289" r:id="rId23"/>
    <p:sldId id="290" r:id="rId24"/>
    <p:sldId id="257" r:id="rId25"/>
    <p:sldId id="286" r:id="rId26"/>
    <p:sldId id="287" r:id="rId27"/>
    <p:sldId id="294" r:id="rId28"/>
    <p:sldId id="297" r:id="rId29"/>
    <p:sldId id="381" r:id="rId30"/>
    <p:sldId id="380" r:id="rId31"/>
    <p:sldId id="382" r:id="rId32"/>
    <p:sldId id="274" r:id="rId33"/>
  </p:sldIdLst>
  <p:sldSz cx="18288000" cy="10287000"/>
  <p:notesSz cx="6858000" cy="9144000"/>
  <p:embeddedFontLst>
    <p:embeddedFont>
      <p:font typeface="Arial Black" panose="020B0A04020102020204" pitchFamily="34" charset="0"/>
      <p:bold r:id="rId35"/>
    </p:embeddedFont>
    <p:embeddedFont>
      <p:font typeface="Lucida Calligraphy" panose="03010101010101010101" pitchFamily="66" charset="0"/>
      <p:regular r:id="rId36"/>
    </p:embeddedFont>
    <p:embeddedFont>
      <p:font typeface="Open Sans Extra Bold"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41" autoAdjust="0"/>
    <p:restoredTop sz="94622" autoAdjust="0"/>
  </p:normalViewPr>
  <p:slideViewPr>
    <p:cSldViewPr>
      <p:cViewPr varScale="1">
        <p:scale>
          <a:sx n="52" d="100"/>
          <a:sy n="52" d="100"/>
        </p:scale>
        <p:origin x="74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AA7C9-AD87-4808-A324-C7E0171D08EA}" type="datetimeFigureOut">
              <a:rPr lang="en-IN" smtClean="0"/>
              <a:t>21-03-2025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395DAE-4548-46BC-B65B-E1027C3CAA6E}" type="slidenum">
              <a:rPr lang="en-IN" smtClean="0"/>
              <a:t>‹#›</a:t>
            </a:fld>
            <a:endParaRPr lang="en-IN"/>
          </a:p>
        </p:txBody>
      </p:sp>
    </p:spTree>
    <p:extLst>
      <p:ext uri="{BB962C8B-B14F-4D97-AF65-F5344CB8AC3E}">
        <p14:creationId xmlns:p14="http://schemas.microsoft.com/office/powerpoint/2010/main" val="109312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2286000" y="1984444"/>
            <a:ext cx="13716000" cy="3280502"/>
          </a:xfrm>
        </p:spPr>
        <p:txBody>
          <a:bodyPr anchor="b">
            <a:normAutofit/>
          </a:bodyPr>
          <a:lstStyle>
            <a:lvl1pPr algn="ctr">
              <a:lnSpc>
                <a:spcPct val="130000"/>
              </a:lnSpc>
              <a:defRPr sz="9000">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p:nvPr>
        </p:nvSpPr>
        <p:spPr>
          <a:xfrm>
            <a:off x="2286000" y="5403057"/>
            <a:ext cx="13716000" cy="2483643"/>
          </a:xfrm>
        </p:spPr>
        <p:txBody>
          <a:bodyPr>
            <a:normAutofit/>
          </a:bodyPr>
          <a:lstStyle>
            <a:lvl1pPr marL="0" indent="0" algn="ctr">
              <a:buNone/>
              <a:defRPr sz="2700">
                <a:solidFill>
                  <a:schemeClr val="tx1">
                    <a:lumMod val="75000"/>
                    <a:lumOff val="25000"/>
                  </a:schemeClr>
                </a:solidFill>
                <a:effectLst/>
                <a:latin typeface="+mj-lt"/>
                <a:ea typeface="+mj-ea"/>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zh-CN" altLang="en-US" dirty="0"/>
              <a:t>Click to edit Master subtitle style</a:t>
            </a:r>
          </a:p>
        </p:txBody>
      </p:sp>
    </p:spTree>
    <p:extLst>
      <p:ext uri="{BB962C8B-B14F-4D97-AF65-F5344CB8AC3E}">
        <p14:creationId xmlns:p14="http://schemas.microsoft.com/office/powerpoint/2010/main" val="3416625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971550" y="387668"/>
            <a:ext cx="15773400" cy="1988345"/>
          </a:xfrm>
        </p:spPr>
        <p:txBody>
          <a:bodyPr anchor="ctr" anchorCtr="0">
            <a:normAutofit/>
          </a:bodyPr>
          <a:lstStyle>
            <a:lvl1pPr>
              <a:defRPr sz="3600" b="1">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idx="1"/>
          </p:nvPr>
        </p:nvSpPr>
        <p:spPr>
          <a:xfrm>
            <a:off x="971550" y="2738438"/>
            <a:ext cx="15773400" cy="6527007"/>
          </a:xfrm>
        </p:spPr>
        <p:txBody>
          <a:bodyPr>
            <a:normAutofit/>
          </a:bodyPr>
          <a:lstStyle>
            <a:lvl1pPr>
              <a:defRPr sz="3000">
                <a:solidFill>
                  <a:schemeClr val="tx1">
                    <a:lumMod val="75000"/>
                    <a:lumOff val="25000"/>
                  </a:schemeClr>
                </a:solidFill>
              </a:defRPr>
            </a:lvl1pPr>
            <a:lvl2pPr>
              <a:defRPr sz="2700">
                <a:solidFill>
                  <a:schemeClr val="tx1">
                    <a:lumMod val="75000"/>
                    <a:lumOff val="25000"/>
                  </a:schemeClr>
                </a:solidFill>
              </a:defRPr>
            </a:lvl2pPr>
            <a:lvl3pPr>
              <a:defRPr sz="2400">
                <a:solidFill>
                  <a:schemeClr val="tx1">
                    <a:lumMod val="75000"/>
                    <a:lumOff val="25000"/>
                  </a:schemeClr>
                </a:solidFill>
              </a:defRPr>
            </a:lvl3pPr>
            <a:lvl4pPr>
              <a:defRPr sz="2400">
                <a:solidFill>
                  <a:schemeClr val="tx1">
                    <a:lumMod val="75000"/>
                    <a:lumOff val="25000"/>
                  </a:schemeClr>
                </a:solidFill>
              </a:defRPr>
            </a:lvl4pPr>
            <a:lvl5pPr>
              <a:defRPr sz="24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646778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1247775" y="5626418"/>
            <a:ext cx="14772132" cy="1217295"/>
          </a:xfrm>
        </p:spPr>
        <p:txBody>
          <a:bodyPr anchor="b">
            <a:normAutofit/>
          </a:bodyPr>
          <a:lstStyle>
            <a:lvl1pPr>
              <a:defRPr sz="600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文本占位符 2"/>
          <p:cNvSpPr>
            <a:spLocks noGrp="1"/>
          </p:cNvSpPr>
          <p:nvPr>
            <p:ph type="body" idx="1"/>
          </p:nvPr>
        </p:nvSpPr>
        <p:spPr>
          <a:xfrm>
            <a:off x="1247775" y="6915043"/>
            <a:ext cx="10982325" cy="971333"/>
          </a:xfrm>
        </p:spPr>
        <p:txBody>
          <a:bodyPr>
            <a:normAutofit/>
          </a:bodyPr>
          <a:lstStyle>
            <a:lvl1pPr marL="0" indent="0">
              <a:buNone/>
              <a:defRPr sz="2700">
                <a:solidFill>
                  <a:schemeClr val="tx1"/>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zh-CN" altLang="en-US" dirty="0">
                <a:sym typeface="+mn-ea"/>
              </a:rPr>
              <a:t>Click to edit Master text styles</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6522814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971550" y="387668"/>
            <a:ext cx="15773400" cy="1988345"/>
          </a:xfrm>
        </p:spPr>
        <p:txBody>
          <a:bodyPr>
            <a:normAutofit/>
          </a:bodyPr>
          <a:lstStyle>
            <a:lvl1pPr>
              <a:defRPr sz="3600" b="1" i="0">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sz="half" idx="1"/>
          </p:nvPr>
        </p:nvSpPr>
        <p:spPr>
          <a:xfrm>
            <a:off x="971550" y="2738438"/>
            <a:ext cx="7772400" cy="6527007"/>
          </a:xfrm>
        </p:spPr>
        <p:txBody>
          <a:bodyPr>
            <a:normAutofit/>
          </a:bodyPr>
          <a:lstStyle>
            <a:lvl1pPr>
              <a:lnSpc>
                <a:spcPct val="150000"/>
              </a:lnSpc>
              <a:defRPr sz="3000">
                <a:solidFill>
                  <a:schemeClr val="tx1">
                    <a:lumMod val="75000"/>
                    <a:lumOff val="25000"/>
                  </a:schemeClr>
                </a:solidFill>
              </a:defRPr>
            </a:lvl1pPr>
            <a:lvl2pPr>
              <a:lnSpc>
                <a:spcPct val="150000"/>
              </a:lnSpc>
              <a:defRPr sz="2700">
                <a:solidFill>
                  <a:schemeClr val="tx1">
                    <a:lumMod val="75000"/>
                    <a:lumOff val="25000"/>
                  </a:schemeClr>
                </a:solidFill>
              </a:defRPr>
            </a:lvl2pPr>
            <a:lvl3pPr>
              <a:lnSpc>
                <a:spcPct val="150000"/>
              </a:lnSpc>
              <a:defRPr sz="2400">
                <a:solidFill>
                  <a:schemeClr val="tx1">
                    <a:lumMod val="75000"/>
                    <a:lumOff val="25000"/>
                  </a:schemeClr>
                </a:solidFill>
              </a:defRPr>
            </a:lvl3pPr>
            <a:lvl4pPr>
              <a:lnSpc>
                <a:spcPct val="150000"/>
              </a:lnSpc>
              <a:defRPr sz="2400">
                <a:solidFill>
                  <a:schemeClr val="tx1">
                    <a:lumMod val="75000"/>
                    <a:lumOff val="25000"/>
                  </a:schemeClr>
                </a:solidFill>
              </a:defRPr>
            </a:lvl4pPr>
            <a:lvl5pPr>
              <a:lnSpc>
                <a:spcPct val="150000"/>
              </a:lnSpc>
              <a:defRPr sz="24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内容占位符 3"/>
          <p:cNvSpPr>
            <a:spLocks noGrp="1"/>
          </p:cNvSpPr>
          <p:nvPr>
            <p:ph sz="half" idx="2"/>
          </p:nvPr>
        </p:nvSpPr>
        <p:spPr>
          <a:xfrm>
            <a:off x="8972550" y="2738438"/>
            <a:ext cx="7772400" cy="6527007"/>
          </a:xfrm>
        </p:spPr>
        <p:txBody>
          <a:bodyPr>
            <a:normAutofit/>
          </a:bodyPr>
          <a:lstStyle>
            <a:lvl1pPr>
              <a:lnSpc>
                <a:spcPct val="150000"/>
              </a:lnSpc>
              <a:defRPr sz="3000">
                <a:solidFill>
                  <a:schemeClr val="tx1">
                    <a:lumMod val="75000"/>
                    <a:lumOff val="25000"/>
                  </a:schemeClr>
                </a:solidFill>
              </a:defRPr>
            </a:lvl1pPr>
            <a:lvl2pPr>
              <a:lnSpc>
                <a:spcPct val="150000"/>
              </a:lnSpc>
              <a:defRPr sz="2700">
                <a:solidFill>
                  <a:schemeClr val="tx1">
                    <a:lumMod val="75000"/>
                    <a:lumOff val="25000"/>
                  </a:schemeClr>
                </a:solidFill>
              </a:defRPr>
            </a:lvl2pPr>
            <a:lvl3pPr>
              <a:lnSpc>
                <a:spcPct val="150000"/>
              </a:lnSpc>
              <a:defRPr sz="2400">
                <a:solidFill>
                  <a:schemeClr val="tx1">
                    <a:lumMod val="75000"/>
                    <a:lumOff val="25000"/>
                  </a:schemeClr>
                </a:solidFill>
              </a:defRPr>
            </a:lvl3pPr>
            <a:lvl4pPr>
              <a:lnSpc>
                <a:spcPct val="150000"/>
              </a:lnSpc>
              <a:defRPr sz="2400">
                <a:solidFill>
                  <a:schemeClr val="tx1">
                    <a:lumMod val="75000"/>
                    <a:lumOff val="25000"/>
                  </a:schemeClr>
                </a:solidFill>
              </a:defRPr>
            </a:lvl4pPr>
            <a:lvl5pPr>
              <a:lnSpc>
                <a:spcPct val="150000"/>
              </a:lnSpc>
              <a:defRPr sz="24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887730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1259682" y="547688"/>
            <a:ext cx="15773400" cy="1988345"/>
          </a:xfrm>
        </p:spPr>
        <p:txBody>
          <a:bodyPr/>
          <a:lstStyle/>
          <a:p>
            <a:r>
              <a:rPr lang="zh-CN" altLang="en-US"/>
              <a:t>Click to edit Master title style</a:t>
            </a:r>
          </a:p>
        </p:txBody>
      </p:sp>
      <p:sp>
        <p:nvSpPr>
          <p:cNvPr id="3" name="文本占位符 2"/>
          <p:cNvSpPr>
            <a:spLocks noGrp="1"/>
          </p:cNvSpPr>
          <p:nvPr>
            <p:ph type="body" idx="1"/>
          </p:nvPr>
        </p:nvSpPr>
        <p:spPr>
          <a:xfrm>
            <a:off x="1259683" y="2617441"/>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zh-CN" altLang="en-US" dirty="0">
                <a:sym typeface="+mn-ea"/>
              </a:rPr>
              <a:t>Click to edit Master text styles</a:t>
            </a:r>
          </a:p>
        </p:txBody>
      </p:sp>
      <p:sp>
        <p:nvSpPr>
          <p:cNvPr id="4" name="内容占位符 3"/>
          <p:cNvSpPr>
            <a:spLocks noGrp="1"/>
          </p:cNvSpPr>
          <p:nvPr>
            <p:ph sz="half" idx="2"/>
          </p:nvPr>
        </p:nvSpPr>
        <p:spPr>
          <a:xfrm>
            <a:off x="1259683" y="3923414"/>
            <a:ext cx="7736681" cy="5361081"/>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文本占位符 4"/>
          <p:cNvSpPr>
            <a:spLocks noGrp="1"/>
          </p:cNvSpPr>
          <p:nvPr>
            <p:ph type="body" sz="quarter" idx="3"/>
          </p:nvPr>
        </p:nvSpPr>
        <p:spPr>
          <a:xfrm>
            <a:off x="9258300" y="2617441"/>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zh-CN" altLang="en-US" dirty="0">
                <a:sym typeface="+mn-ea"/>
              </a:rPr>
              <a:t>Click to edit Master text styles</a:t>
            </a:r>
          </a:p>
        </p:txBody>
      </p:sp>
      <p:sp>
        <p:nvSpPr>
          <p:cNvPr id="6" name="内容占位符 5"/>
          <p:cNvSpPr>
            <a:spLocks noGrp="1"/>
          </p:cNvSpPr>
          <p:nvPr>
            <p:ph sz="quarter" idx="4"/>
          </p:nvPr>
        </p:nvSpPr>
        <p:spPr>
          <a:xfrm>
            <a:off x="9258300" y="3923414"/>
            <a:ext cx="7774782" cy="5361081"/>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5690679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1257300" y="4149329"/>
            <a:ext cx="15773400" cy="1988345"/>
          </a:xfrm>
        </p:spPr>
        <p:txBody>
          <a:bodyPr>
            <a:normAutofit/>
          </a:bodyPr>
          <a:lstStyle>
            <a:lvl1pPr algn="ctr">
              <a:defRPr sz="7200" b="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2102849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693402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970121" y="190500"/>
            <a:ext cx="6247800" cy="2400300"/>
          </a:xfrm>
        </p:spPr>
        <p:txBody>
          <a:bodyPr anchor="ctr" anchorCtr="0">
            <a:normAutofit/>
          </a:bodyPr>
          <a:lstStyle>
            <a:lvl1pPr>
              <a:defRPr sz="3600" b="1">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3" name="图片占位符 2"/>
          <p:cNvSpPr>
            <a:spLocks noGrp="1" noChangeAspect="1"/>
          </p:cNvSpPr>
          <p:nvPr>
            <p:ph type="pic" idx="1"/>
          </p:nvPr>
        </p:nvSpPr>
        <p:spPr>
          <a:xfrm>
            <a:off x="7776001" y="1149531"/>
            <a:ext cx="8726063" cy="7641669"/>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zh-CN" altLang="en-US" dirty="0"/>
          </a:p>
        </p:txBody>
      </p:sp>
      <p:sp>
        <p:nvSpPr>
          <p:cNvPr id="4" name="文本占位符 3"/>
          <p:cNvSpPr>
            <a:spLocks noGrp="1"/>
          </p:cNvSpPr>
          <p:nvPr>
            <p:ph type="body" sz="half" idx="2"/>
          </p:nvPr>
        </p:nvSpPr>
        <p:spPr>
          <a:xfrm>
            <a:off x="977741" y="3086100"/>
            <a:ext cx="6247800" cy="5717382"/>
          </a:xfrm>
        </p:spPr>
        <p:txBody>
          <a:bodyPr>
            <a:normAutofit/>
          </a:bodyPr>
          <a:lstStyle>
            <a:lvl1pPr marL="0" indent="0">
              <a:lnSpc>
                <a:spcPct val="150000"/>
              </a:lnSpc>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zh-CN" altLang="en-US" dirty="0"/>
              <a:t>Click to edit Master text styles</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2025/3/21</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cxnSp>
        <p:nvCxnSpPr>
          <p:cNvPr id="8" name="直接连接符 7" hidden="1"/>
          <p:cNvCxnSpPr/>
          <p:nvPr userDrawn="1"/>
        </p:nvCxnSpPr>
        <p:spPr>
          <a:xfrm>
            <a:off x="1114425" y="651511"/>
            <a:ext cx="0" cy="20869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87141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4736726" y="547688"/>
            <a:ext cx="2293974" cy="8717757"/>
          </a:xfrm>
        </p:spPr>
        <p:txBody>
          <a:bodyPr vert="eaVert">
            <a:normAutofit/>
          </a:bodyPr>
          <a:lstStyle>
            <a:lvl1pPr>
              <a:defRPr sz="5400"/>
            </a:lvl1pPr>
          </a:lstStyle>
          <a:p>
            <a:r>
              <a:rPr lang="zh-CN" altLang="en-US"/>
              <a:t>Click to edit Master title style</a:t>
            </a:r>
          </a:p>
        </p:txBody>
      </p:sp>
      <p:sp>
        <p:nvSpPr>
          <p:cNvPr id="3" name="竖排文字占位符 2"/>
          <p:cNvSpPr>
            <a:spLocks noGrp="1"/>
          </p:cNvSpPr>
          <p:nvPr>
            <p:ph type="body" orient="vert" idx="1"/>
          </p:nvPr>
        </p:nvSpPr>
        <p:spPr>
          <a:xfrm>
            <a:off x="1257300" y="547688"/>
            <a:ext cx="13319937" cy="8717757"/>
          </a:xfrm>
        </p:spPr>
        <p:txBody>
          <a:bodyPr vert="eaVert"/>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177122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2025/3/21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1257300" y="827315"/>
            <a:ext cx="15773400" cy="8338457"/>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Tree>
    <p:extLst>
      <p:ext uri="{BB962C8B-B14F-4D97-AF65-F5344CB8AC3E}">
        <p14:creationId xmlns:p14="http://schemas.microsoft.com/office/powerpoint/2010/main" val="4209994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zh-CN" altLang="en-US" dirty="0"/>
              <a:t>Click to edit Master title style</a:t>
            </a:r>
          </a:p>
        </p:txBody>
      </p:sp>
      <p:sp>
        <p:nvSpPr>
          <p:cNvPr id="3" name="文本占位符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2"/>
          </p:nvPr>
        </p:nvSpPr>
        <p:spPr>
          <a:xfrm>
            <a:off x="1257300" y="9534526"/>
            <a:ext cx="4114800" cy="547688"/>
          </a:xfrm>
          <a:prstGeom prst="rect">
            <a:avLst/>
          </a:prstGeom>
        </p:spPr>
        <p:txBody>
          <a:bodyPr vert="horz" lIns="91440" tIns="45720" rIns="91440" bIns="45720" rtlCol="0" anchor="ctr">
            <a:normAutofit/>
          </a:bodyPr>
          <a:lstStyle>
            <a:lvl1pPr algn="l">
              <a:defRPr sz="1800">
                <a:solidFill>
                  <a:schemeClr val="tx1">
                    <a:tint val="75000"/>
                  </a:schemeClr>
                </a:solidFill>
              </a:defRPr>
            </a:lvl1pPr>
          </a:lstStyle>
          <a:p>
            <a:fld id="{760FBDFE-C587-4B4C-A407-44438C67B59E}" type="datetimeFigureOut">
              <a:rPr lang="zh-CN" altLang="en-US" smtClean="0"/>
              <a:t>2025/3/21</a:t>
            </a:fld>
            <a:endParaRPr lang="zh-CN" altLang="en-US"/>
          </a:p>
        </p:txBody>
      </p:sp>
      <p:sp>
        <p:nvSpPr>
          <p:cNvPr id="5" name="页脚占位符 4"/>
          <p:cNvSpPr>
            <a:spLocks noGrp="1"/>
          </p:cNvSpPr>
          <p:nvPr>
            <p:ph type="ftr" sz="quarter" idx="3"/>
          </p:nvPr>
        </p:nvSpPr>
        <p:spPr>
          <a:xfrm>
            <a:off x="6057900" y="9534526"/>
            <a:ext cx="6172200" cy="547688"/>
          </a:xfrm>
          <a:prstGeom prst="rect">
            <a:avLst/>
          </a:prstGeom>
        </p:spPr>
        <p:txBody>
          <a:bodyPr vert="horz" lIns="91440" tIns="45720" rIns="91440" bIns="45720" rtlCol="0" anchor="ctr">
            <a:normAutofit/>
          </a:bodyPr>
          <a:lstStyle>
            <a:lvl1pPr algn="ctr">
              <a:defRPr sz="18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12915900" y="9534526"/>
            <a:ext cx="4114800" cy="547688"/>
          </a:xfrm>
          <a:prstGeom prst="rect">
            <a:avLst/>
          </a:prstGeom>
        </p:spPr>
        <p:txBody>
          <a:bodyPr vert="horz" lIns="91440" tIns="45720" rIns="91440" bIns="45720" rtlCol="0" anchor="ctr">
            <a:normAutofit/>
          </a:bodyPr>
          <a:lstStyle>
            <a:lvl1pPr algn="r">
              <a:defRPr sz="1800">
                <a:solidFill>
                  <a:schemeClr val="tx1">
                    <a:tint val="75000"/>
                  </a:schemeClr>
                </a:solidFill>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3248301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13716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eg"/><Relationship Id="rId7" Type="http://schemas.openxmlformats.org/officeDocument/2006/relationships/image" Target="../media/image27.pn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jpeg"/><Relationship Id="rId9"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Text Box 2"/>
          <p:cNvSpPr txBox="1"/>
          <p:nvPr/>
        </p:nvSpPr>
        <p:spPr>
          <a:xfrm>
            <a:off x="539115" y="414719"/>
            <a:ext cx="12529185" cy="1357313"/>
          </a:xfrm>
          <a:prstGeom prst="rect">
            <a:avLst/>
          </a:prstGeom>
          <a:noFill/>
        </p:spPr>
        <p:txBody>
          <a:bodyPr wrap="square" rtlCol="0">
            <a:noAutofit/>
          </a:bodyPr>
          <a:lstStyle/>
          <a:p>
            <a:pPr defTabSz="1371600"/>
            <a:r>
              <a:rPr lang="en-IN" sz="8100" b="1" spc="-2" dirty="0">
                <a:solidFill>
                  <a:prstClr val="white"/>
                </a:solidFill>
                <a:latin typeface="Calibri" panose="020F0502020204030204"/>
                <a:sym typeface="+mn-ea"/>
              </a:rPr>
              <a:t>W</a:t>
            </a:r>
            <a:r>
              <a:rPr lang="en-IN" sz="8100" b="1" spc="-2" dirty="0">
                <a:solidFill>
                  <a:schemeClr val="accent2"/>
                </a:solidFill>
                <a:latin typeface="Calibri" panose="020F0502020204030204"/>
                <a:sym typeface="+mn-ea"/>
              </a:rPr>
              <a:t>hat</a:t>
            </a:r>
            <a:r>
              <a:rPr lang="en-IN" sz="8100" b="1" spc="-2" dirty="0">
                <a:solidFill>
                  <a:prstClr val="white"/>
                </a:solidFill>
                <a:latin typeface="Calibri" panose="020F0502020204030204"/>
                <a:sym typeface="+mn-ea"/>
              </a:rPr>
              <a:t> I</a:t>
            </a:r>
            <a:r>
              <a:rPr lang="en-IN" sz="8100" b="1" spc="-2" dirty="0">
                <a:solidFill>
                  <a:schemeClr val="accent2"/>
                </a:solidFill>
                <a:latin typeface="Calibri" panose="020F0502020204030204"/>
                <a:sym typeface="+mn-ea"/>
              </a:rPr>
              <a:t>s</a:t>
            </a:r>
            <a:r>
              <a:rPr lang="en-IN" sz="8100" b="1" spc="-2" dirty="0">
                <a:solidFill>
                  <a:prstClr val="white"/>
                </a:solidFill>
                <a:latin typeface="Calibri" panose="020F0502020204030204"/>
                <a:sym typeface="+mn-ea"/>
              </a:rPr>
              <a:t> D</a:t>
            </a:r>
            <a:r>
              <a:rPr lang="en-IN" sz="8100" b="1" spc="-2" dirty="0">
                <a:solidFill>
                  <a:srgbClr val="ED7D31"/>
                </a:solidFill>
                <a:latin typeface="Calibri" panose="020F0502020204030204"/>
                <a:sym typeface="+mn-ea"/>
              </a:rPr>
              <a:t>ATA </a:t>
            </a:r>
            <a:r>
              <a:rPr lang="en-IN" sz="8100" b="1" spc="-2" dirty="0">
                <a:solidFill>
                  <a:prstClr val="white"/>
                </a:solidFill>
                <a:latin typeface="Calibri" panose="020F0502020204030204"/>
                <a:sym typeface="+mn-ea"/>
              </a:rPr>
              <a:t>S</a:t>
            </a:r>
            <a:r>
              <a:rPr lang="en-IN" sz="8100" b="1" spc="-2" dirty="0">
                <a:solidFill>
                  <a:srgbClr val="ED7D31"/>
                </a:solidFill>
                <a:latin typeface="Calibri" panose="020F0502020204030204"/>
                <a:sym typeface="+mn-ea"/>
              </a:rPr>
              <a:t>CIENCE ?</a:t>
            </a:r>
            <a:endParaRPr lang="en-IN" sz="8100" b="1" spc="-2" dirty="0">
              <a:solidFill>
                <a:srgbClr val="ED7D31"/>
              </a:solidFill>
              <a:latin typeface="Calibri" panose="020F0502020204030204"/>
            </a:endParaRPr>
          </a:p>
          <a:p>
            <a:pPr defTabSz="1371600"/>
            <a:endParaRPr lang="en-US" altLang="en-IN" sz="8100" b="1" spc="-2" dirty="0">
              <a:solidFill>
                <a:srgbClr val="ED7D31"/>
              </a:solidFill>
              <a:latin typeface="Calibri" panose="020F0502020204030204"/>
            </a:endParaRPr>
          </a:p>
        </p:txBody>
      </p:sp>
      <p:sp>
        <p:nvSpPr>
          <p:cNvPr id="5" name="TextBox 4"/>
          <p:cNvSpPr txBox="1"/>
          <p:nvPr/>
        </p:nvSpPr>
        <p:spPr>
          <a:xfrm>
            <a:off x="539115" y="1993392"/>
            <a:ext cx="13816965" cy="3970318"/>
          </a:xfrm>
          <a:prstGeom prst="rect">
            <a:avLst/>
          </a:prstGeom>
          <a:noFill/>
        </p:spPr>
        <p:txBody>
          <a:bodyPr wrap="square" rtlCol="0">
            <a:spAutoFit/>
          </a:bodyPr>
          <a:lstStyle/>
          <a:p>
            <a:pPr defTabSz="1371600"/>
            <a:r>
              <a:rPr lang="en-US" sz="4200" spc="-2" dirty="0">
                <a:solidFill>
                  <a:prstClr val="white"/>
                </a:solidFill>
                <a:latin typeface="Times New Roman" panose="02020603050405020304"/>
              </a:rPr>
              <a:t>Data Science is like being a </a:t>
            </a:r>
            <a:r>
              <a:rPr lang="en-US" sz="4200" spc="-2" dirty="0">
                <a:solidFill>
                  <a:srgbClr val="FF6600"/>
                </a:solidFill>
                <a:latin typeface="Times New Roman" panose="02020603050405020304"/>
              </a:rPr>
              <a:t>Detective</a:t>
            </a:r>
            <a:r>
              <a:rPr lang="en-US" sz="4200" spc="-2" dirty="0">
                <a:solidFill>
                  <a:prstClr val="white"/>
                </a:solidFill>
                <a:latin typeface="Times New Roman" panose="02020603050405020304"/>
              </a:rPr>
              <a:t> for information in a world of </a:t>
            </a:r>
            <a:r>
              <a:rPr lang="en-US" sz="4200" spc="-2" dirty="0">
                <a:solidFill>
                  <a:srgbClr val="FF6600"/>
                </a:solidFill>
                <a:latin typeface="Times New Roman" panose="02020603050405020304"/>
              </a:rPr>
              <a:t>data</a:t>
            </a:r>
            <a:r>
              <a:rPr lang="en-US" sz="4200" spc="-2" dirty="0">
                <a:solidFill>
                  <a:prstClr val="white"/>
                </a:solidFill>
                <a:latin typeface="Times New Roman" panose="02020603050405020304"/>
              </a:rPr>
              <a:t>. It uses math, computer skills, and knowledge from different areas to find hidden patterns and </a:t>
            </a:r>
            <a:r>
              <a:rPr lang="en-US" sz="4200" spc="-2" dirty="0">
                <a:solidFill>
                  <a:srgbClr val="FF6600"/>
                </a:solidFill>
                <a:latin typeface="Times New Roman" panose="02020603050405020304"/>
              </a:rPr>
              <a:t>useful insights </a:t>
            </a:r>
            <a:r>
              <a:rPr lang="en-US" sz="4200" spc="-2" dirty="0">
                <a:solidFill>
                  <a:prstClr val="white"/>
                </a:solidFill>
                <a:latin typeface="Times New Roman" panose="02020603050405020304"/>
              </a:rPr>
              <a:t>in all sorts of information. The main aim is to help people and organization to make smarter decisions , and helps in to run business , and discover new things from data.</a:t>
            </a:r>
            <a:endParaRPr lang="en-IN" sz="4200" spc="-2" dirty="0">
              <a:solidFill>
                <a:prstClr val="white"/>
              </a:solidFill>
              <a:latin typeface="Times New Roman" panose="02020603050405020304"/>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2090" y="6208014"/>
            <a:ext cx="6310503" cy="42070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46D8E975-A1A6-F437-1844-86D6FBE1EF8B}"/>
            </a:ext>
          </a:extLst>
        </p:cNvPr>
        <p:cNvGrpSpPr/>
        <p:nvPr/>
      </p:nvGrpSpPr>
      <p:grpSpPr>
        <a:xfrm>
          <a:off x="0" y="0"/>
          <a:ext cx="0" cy="0"/>
          <a:chOff x="0" y="0"/>
          <a:chExt cx="0" cy="0"/>
        </a:xfrm>
      </p:grpSpPr>
      <p:sp>
        <p:nvSpPr>
          <p:cNvPr id="3" name="Text Box 2">
            <a:extLst>
              <a:ext uri="{FF2B5EF4-FFF2-40B4-BE49-F238E27FC236}">
                <a16:creationId xmlns:a16="http://schemas.microsoft.com/office/drawing/2014/main" id="{86D81250-5883-6EFD-0E0E-F7AEB2082023}"/>
              </a:ext>
            </a:extLst>
          </p:cNvPr>
          <p:cNvSpPr txBox="1"/>
          <p:nvPr/>
        </p:nvSpPr>
        <p:spPr>
          <a:xfrm>
            <a:off x="539115" y="414719"/>
            <a:ext cx="12529185" cy="1357313"/>
          </a:xfrm>
          <a:prstGeom prst="rect">
            <a:avLst/>
          </a:prstGeom>
          <a:noFill/>
        </p:spPr>
        <p:txBody>
          <a:bodyPr wrap="square" rtlCol="0">
            <a:noAutofit/>
          </a:bodyPr>
          <a:lstStyle/>
          <a:p>
            <a:pPr defTabSz="1371600"/>
            <a:r>
              <a:rPr lang="en-IN" sz="8100" b="1" spc="-2" dirty="0">
                <a:solidFill>
                  <a:prstClr val="white"/>
                </a:solidFill>
                <a:latin typeface="Calibri" panose="020F0502020204030204"/>
                <a:sym typeface="+mn-ea"/>
              </a:rPr>
              <a:t>S</a:t>
            </a:r>
            <a:r>
              <a:rPr lang="en-IN" sz="8100" b="1" spc="-2" dirty="0">
                <a:solidFill>
                  <a:schemeClr val="accent2"/>
                </a:solidFill>
                <a:latin typeface="Calibri" panose="020F0502020204030204"/>
                <a:sym typeface="+mn-ea"/>
              </a:rPr>
              <a:t>cope</a:t>
            </a:r>
            <a:r>
              <a:rPr lang="en-IN" sz="8100" b="1" spc="-2" dirty="0">
                <a:solidFill>
                  <a:prstClr val="white"/>
                </a:solidFill>
                <a:latin typeface="Calibri" panose="020F0502020204030204"/>
                <a:sym typeface="+mn-ea"/>
              </a:rPr>
              <a:t> O</a:t>
            </a:r>
            <a:r>
              <a:rPr lang="en-IN" sz="8100" b="1" spc="-2" dirty="0">
                <a:solidFill>
                  <a:schemeClr val="accent2"/>
                </a:solidFill>
                <a:latin typeface="Calibri" panose="020F0502020204030204"/>
                <a:sym typeface="+mn-ea"/>
              </a:rPr>
              <a:t>f</a:t>
            </a:r>
            <a:r>
              <a:rPr lang="en-IN" sz="8100" b="1" spc="-2" dirty="0">
                <a:solidFill>
                  <a:prstClr val="white"/>
                </a:solidFill>
                <a:latin typeface="Calibri" panose="020F0502020204030204"/>
                <a:sym typeface="+mn-ea"/>
              </a:rPr>
              <a:t> D</a:t>
            </a:r>
            <a:r>
              <a:rPr lang="en-IN" sz="8100" b="1" spc="-2" dirty="0">
                <a:solidFill>
                  <a:schemeClr val="accent2"/>
                </a:solidFill>
                <a:latin typeface="Calibri" panose="020F0502020204030204"/>
                <a:sym typeface="+mn-ea"/>
              </a:rPr>
              <a:t>ata</a:t>
            </a:r>
            <a:r>
              <a:rPr lang="en-IN" sz="8100" b="1" spc="-2" dirty="0">
                <a:solidFill>
                  <a:prstClr val="white"/>
                </a:solidFill>
                <a:latin typeface="Calibri" panose="020F0502020204030204"/>
                <a:sym typeface="+mn-ea"/>
              </a:rPr>
              <a:t> S</a:t>
            </a:r>
            <a:r>
              <a:rPr lang="en-IN" sz="8100" b="1" spc="-2" dirty="0">
                <a:solidFill>
                  <a:schemeClr val="accent2"/>
                </a:solidFill>
                <a:latin typeface="Calibri" panose="020F0502020204030204"/>
                <a:sym typeface="+mn-ea"/>
              </a:rPr>
              <a:t>cience</a:t>
            </a:r>
            <a:r>
              <a:rPr lang="en-IN" sz="8100" b="1" spc="-2" dirty="0">
                <a:solidFill>
                  <a:prstClr val="white"/>
                </a:solidFill>
                <a:latin typeface="Calibri" panose="020F0502020204030204"/>
                <a:sym typeface="+mn-ea"/>
              </a:rPr>
              <a:t> </a:t>
            </a:r>
            <a:endParaRPr lang="en-IN" sz="8100" b="1" spc="-2" dirty="0">
              <a:solidFill>
                <a:srgbClr val="ED7D31"/>
              </a:solidFill>
              <a:latin typeface="Calibri" panose="020F0502020204030204"/>
            </a:endParaRPr>
          </a:p>
          <a:p>
            <a:pPr defTabSz="1371600"/>
            <a:endParaRPr lang="en-US" altLang="en-IN" sz="8100" b="1" spc="-2" dirty="0">
              <a:solidFill>
                <a:srgbClr val="ED7D31"/>
              </a:solidFill>
              <a:latin typeface="Calibri" panose="020F0502020204030204"/>
            </a:endParaRPr>
          </a:p>
        </p:txBody>
      </p:sp>
      <p:pic>
        <p:nvPicPr>
          <p:cNvPr id="4" name="Picture 3" descr="A screenshot of a computer&#10;&#10;AI-generated content may be incorrect.">
            <a:extLst>
              <a:ext uri="{FF2B5EF4-FFF2-40B4-BE49-F238E27FC236}">
                <a16:creationId xmlns:a16="http://schemas.microsoft.com/office/drawing/2014/main" id="{6FD15C08-3C81-A0B1-DF43-EC1529B377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115" y="2247900"/>
            <a:ext cx="13216612" cy="7001365"/>
          </a:xfrm>
          <a:prstGeom prst="rect">
            <a:avLst/>
          </a:prstGeom>
        </p:spPr>
      </p:pic>
    </p:spTree>
    <p:extLst>
      <p:ext uri="{BB962C8B-B14F-4D97-AF65-F5344CB8AC3E}">
        <p14:creationId xmlns:p14="http://schemas.microsoft.com/office/powerpoint/2010/main" val="1871063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44034A55-D758-D5DA-FAFB-2F101121AE38}"/>
            </a:ext>
          </a:extLst>
        </p:cNvPr>
        <p:cNvGrpSpPr/>
        <p:nvPr/>
      </p:nvGrpSpPr>
      <p:grpSpPr>
        <a:xfrm>
          <a:off x="0" y="0"/>
          <a:ext cx="0" cy="0"/>
          <a:chOff x="0" y="0"/>
          <a:chExt cx="0" cy="0"/>
        </a:xfrm>
      </p:grpSpPr>
      <p:sp>
        <p:nvSpPr>
          <p:cNvPr id="3" name="Text Box 2">
            <a:extLst>
              <a:ext uri="{FF2B5EF4-FFF2-40B4-BE49-F238E27FC236}">
                <a16:creationId xmlns:a16="http://schemas.microsoft.com/office/drawing/2014/main" id="{DD397A35-24F5-35B1-1B45-86B499D89096}"/>
              </a:ext>
            </a:extLst>
          </p:cNvPr>
          <p:cNvSpPr txBox="1"/>
          <p:nvPr/>
        </p:nvSpPr>
        <p:spPr>
          <a:xfrm>
            <a:off x="762000" y="419100"/>
            <a:ext cx="12529185" cy="1357313"/>
          </a:xfrm>
          <a:prstGeom prst="rect">
            <a:avLst/>
          </a:prstGeom>
          <a:noFill/>
        </p:spPr>
        <p:txBody>
          <a:bodyPr wrap="square" rtlCol="0">
            <a:noAutofit/>
          </a:bodyPr>
          <a:lstStyle/>
          <a:p>
            <a:pPr defTabSz="1371600"/>
            <a:r>
              <a:rPr lang="en-IN" sz="5400" b="1" spc="-2" dirty="0">
                <a:solidFill>
                  <a:prstClr val="white"/>
                </a:solidFill>
                <a:latin typeface="Calibri" panose="020F0502020204030204"/>
                <a:sym typeface="+mn-ea"/>
              </a:rPr>
              <a:t>H</a:t>
            </a:r>
            <a:r>
              <a:rPr lang="en-IN" sz="5400" b="1" spc="-2" dirty="0">
                <a:solidFill>
                  <a:schemeClr val="accent2"/>
                </a:solidFill>
                <a:latin typeface="Calibri" panose="020F0502020204030204"/>
                <a:sym typeface="+mn-ea"/>
              </a:rPr>
              <a:t>ighest</a:t>
            </a:r>
            <a:r>
              <a:rPr lang="en-IN" sz="5400" b="1" spc="-2" dirty="0">
                <a:solidFill>
                  <a:prstClr val="white"/>
                </a:solidFill>
                <a:latin typeface="Calibri" panose="020F0502020204030204"/>
                <a:sym typeface="+mn-ea"/>
              </a:rPr>
              <a:t> P</a:t>
            </a:r>
            <a:r>
              <a:rPr lang="en-IN" sz="5400" b="1" spc="-2" dirty="0">
                <a:solidFill>
                  <a:schemeClr val="accent2"/>
                </a:solidFill>
                <a:latin typeface="Calibri" panose="020F0502020204030204"/>
                <a:sym typeface="+mn-ea"/>
              </a:rPr>
              <a:t>aid</a:t>
            </a:r>
            <a:r>
              <a:rPr lang="en-IN" sz="5400" b="1" spc="-2" dirty="0">
                <a:solidFill>
                  <a:prstClr val="white"/>
                </a:solidFill>
                <a:latin typeface="Calibri" panose="020F0502020204030204"/>
                <a:sym typeface="+mn-ea"/>
              </a:rPr>
              <a:t> J</a:t>
            </a:r>
            <a:r>
              <a:rPr lang="en-IN" sz="5400" b="1" spc="-2" dirty="0">
                <a:solidFill>
                  <a:schemeClr val="accent2"/>
                </a:solidFill>
                <a:latin typeface="Calibri" panose="020F0502020204030204"/>
                <a:sym typeface="+mn-ea"/>
              </a:rPr>
              <a:t>obs</a:t>
            </a:r>
            <a:r>
              <a:rPr lang="en-IN" sz="5400" b="1" spc="-2" dirty="0">
                <a:solidFill>
                  <a:prstClr val="white"/>
                </a:solidFill>
                <a:latin typeface="Calibri" panose="020F0502020204030204"/>
                <a:sym typeface="+mn-ea"/>
              </a:rPr>
              <a:t> I</a:t>
            </a:r>
            <a:r>
              <a:rPr lang="en-IN" sz="5400" b="1" spc="-2" dirty="0">
                <a:solidFill>
                  <a:schemeClr val="accent2"/>
                </a:solidFill>
                <a:latin typeface="Calibri" panose="020F0502020204030204"/>
                <a:sym typeface="+mn-ea"/>
              </a:rPr>
              <a:t>n</a:t>
            </a:r>
            <a:r>
              <a:rPr lang="en-IN" sz="5400" b="1" spc="-2" dirty="0">
                <a:solidFill>
                  <a:prstClr val="white"/>
                </a:solidFill>
                <a:latin typeface="Calibri" panose="020F0502020204030204"/>
                <a:sym typeface="+mn-ea"/>
              </a:rPr>
              <a:t> I</a:t>
            </a:r>
            <a:r>
              <a:rPr lang="en-IN" sz="5400" b="1" spc="-2" dirty="0">
                <a:solidFill>
                  <a:schemeClr val="accent2"/>
                </a:solidFill>
                <a:latin typeface="Calibri" panose="020F0502020204030204"/>
                <a:sym typeface="+mn-ea"/>
              </a:rPr>
              <a:t>T</a:t>
            </a:r>
            <a:r>
              <a:rPr lang="en-IN" sz="5400" b="1" spc="-2" dirty="0">
                <a:solidFill>
                  <a:prstClr val="white"/>
                </a:solidFill>
                <a:latin typeface="Calibri" panose="020F0502020204030204"/>
                <a:sym typeface="+mn-ea"/>
              </a:rPr>
              <a:t> S</a:t>
            </a:r>
            <a:r>
              <a:rPr lang="en-IN" sz="5400" b="1" spc="-2" dirty="0">
                <a:solidFill>
                  <a:schemeClr val="accent2"/>
                </a:solidFill>
                <a:latin typeface="Calibri" panose="020F0502020204030204"/>
                <a:sym typeface="+mn-ea"/>
              </a:rPr>
              <a:t>ector</a:t>
            </a:r>
            <a:r>
              <a:rPr lang="en-IN" sz="5400" b="1" spc="-2" dirty="0">
                <a:solidFill>
                  <a:prstClr val="white"/>
                </a:solidFill>
                <a:latin typeface="Calibri" panose="020F0502020204030204"/>
                <a:sym typeface="+mn-ea"/>
              </a:rPr>
              <a:t> I</a:t>
            </a:r>
            <a:r>
              <a:rPr lang="en-IN" sz="5400" b="1" spc="-2" dirty="0">
                <a:solidFill>
                  <a:schemeClr val="accent2"/>
                </a:solidFill>
                <a:latin typeface="Calibri" panose="020F0502020204030204"/>
                <a:sym typeface="+mn-ea"/>
              </a:rPr>
              <a:t>n</a:t>
            </a:r>
            <a:r>
              <a:rPr lang="en-IN" sz="5400" b="1" spc="-2" dirty="0">
                <a:solidFill>
                  <a:prstClr val="white"/>
                </a:solidFill>
                <a:latin typeface="Calibri" panose="020F0502020204030204"/>
                <a:sym typeface="+mn-ea"/>
              </a:rPr>
              <a:t> 2</a:t>
            </a:r>
            <a:r>
              <a:rPr lang="en-IN" sz="5400" b="1" spc="-2" dirty="0">
                <a:solidFill>
                  <a:schemeClr val="accent2"/>
                </a:solidFill>
                <a:latin typeface="Calibri" panose="020F0502020204030204"/>
                <a:sym typeface="+mn-ea"/>
              </a:rPr>
              <a:t>025</a:t>
            </a:r>
            <a:r>
              <a:rPr lang="en-IN" sz="5400" b="1" spc="-2" dirty="0">
                <a:solidFill>
                  <a:prstClr val="white"/>
                </a:solidFill>
                <a:latin typeface="Calibri" panose="020F0502020204030204"/>
                <a:sym typeface="+mn-ea"/>
              </a:rPr>
              <a:t> </a:t>
            </a:r>
            <a:endParaRPr lang="en-IN" sz="5400" b="1" spc="-2" dirty="0">
              <a:solidFill>
                <a:srgbClr val="ED7D31"/>
              </a:solidFill>
              <a:latin typeface="Calibri" panose="020F0502020204030204"/>
            </a:endParaRPr>
          </a:p>
          <a:p>
            <a:pPr defTabSz="1371600"/>
            <a:endParaRPr lang="en-US" altLang="en-IN" sz="8100" b="1" spc="-2" dirty="0">
              <a:solidFill>
                <a:srgbClr val="ED7D31"/>
              </a:solidFill>
              <a:latin typeface="Calibri" panose="020F0502020204030204"/>
            </a:endParaRPr>
          </a:p>
        </p:txBody>
      </p:sp>
      <p:pic>
        <p:nvPicPr>
          <p:cNvPr id="5" name="Picture 4" descr="A screenshot of a computer">
            <a:extLst>
              <a:ext uri="{FF2B5EF4-FFF2-40B4-BE49-F238E27FC236}">
                <a16:creationId xmlns:a16="http://schemas.microsoft.com/office/drawing/2014/main" id="{7B206848-66A8-7F4B-833D-AC0D28C692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171700"/>
            <a:ext cx="13088411" cy="6757425"/>
          </a:xfrm>
          <a:prstGeom prst="rect">
            <a:avLst/>
          </a:prstGeom>
        </p:spPr>
      </p:pic>
    </p:spTree>
    <p:extLst>
      <p:ext uri="{BB962C8B-B14F-4D97-AF65-F5344CB8AC3E}">
        <p14:creationId xmlns:p14="http://schemas.microsoft.com/office/powerpoint/2010/main" val="517370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80BA4127-A338-72CC-8F4A-D10641889574}"/>
            </a:ext>
          </a:extLst>
        </p:cNvPr>
        <p:cNvGrpSpPr/>
        <p:nvPr/>
      </p:nvGrpSpPr>
      <p:grpSpPr>
        <a:xfrm>
          <a:off x="0" y="0"/>
          <a:ext cx="0" cy="0"/>
          <a:chOff x="0" y="0"/>
          <a:chExt cx="0" cy="0"/>
        </a:xfrm>
      </p:grpSpPr>
      <p:sp>
        <p:nvSpPr>
          <p:cNvPr id="3" name="Text Box 2">
            <a:extLst>
              <a:ext uri="{FF2B5EF4-FFF2-40B4-BE49-F238E27FC236}">
                <a16:creationId xmlns:a16="http://schemas.microsoft.com/office/drawing/2014/main" id="{8D13ABE4-ED3D-61F0-C3E6-4CDF0D3ACD7C}"/>
              </a:ext>
            </a:extLst>
          </p:cNvPr>
          <p:cNvSpPr txBox="1"/>
          <p:nvPr/>
        </p:nvSpPr>
        <p:spPr>
          <a:xfrm>
            <a:off x="762000" y="419100"/>
            <a:ext cx="12529185" cy="1357313"/>
          </a:xfrm>
          <a:prstGeom prst="rect">
            <a:avLst/>
          </a:prstGeom>
          <a:noFill/>
        </p:spPr>
        <p:txBody>
          <a:bodyPr wrap="square" rtlCol="0">
            <a:noAutofit/>
          </a:bodyPr>
          <a:lstStyle/>
          <a:p>
            <a:pPr defTabSz="1371600"/>
            <a:r>
              <a:rPr lang="en-IN" sz="5400" b="1" spc="-2" dirty="0">
                <a:solidFill>
                  <a:prstClr val="white"/>
                </a:solidFill>
                <a:latin typeface="Calibri" panose="020F0502020204030204"/>
                <a:sym typeface="+mn-ea"/>
              </a:rPr>
              <a:t>S</a:t>
            </a:r>
            <a:r>
              <a:rPr lang="en-IN" sz="5400" b="1" spc="-2" dirty="0">
                <a:solidFill>
                  <a:schemeClr val="accent2"/>
                </a:solidFill>
                <a:latin typeface="Calibri" panose="020F0502020204030204"/>
                <a:sym typeface="+mn-ea"/>
              </a:rPr>
              <a:t>alary</a:t>
            </a:r>
            <a:r>
              <a:rPr lang="en-IN" sz="5400" b="1" spc="-2" dirty="0">
                <a:solidFill>
                  <a:prstClr val="white"/>
                </a:solidFill>
                <a:latin typeface="Calibri" panose="020F0502020204030204"/>
                <a:sym typeface="+mn-ea"/>
              </a:rPr>
              <a:t> P</a:t>
            </a:r>
            <a:r>
              <a:rPr lang="en-IN" sz="5400" b="1" spc="-2" dirty="0">
                <a:solidFill>
                  <a:schemeClr val="accent2"/>
                </a:solidFill>
                <a:latin typeface="Calibri" panose="020F0502020204030204"/>
                <a:sym typeface="+mn-ea"/>
              </a:rPr>
              <a:t>ackage</a:t>
            </a:r>
            <a:r>
              <a:rPr lang="en-IN" sz="5400" b="1" spc="-2" dirty="0">
                <a:solidFill>
                  <a:prstClr val="white"/>
                </a:solidFill>
                <a:latin typeface="Calibri" panose="020F0502020204030204"/>
                <a:sym typeface="+mn-ea"/>
              </a:rPr>
              <a:t> </a:t>
            </a:r>
            <a:endParaRPr lang="en-IN" sz="5400" b="1" spc="-2" dirty="0">
              <a:solidFill>
                <a:srgbClr val="ED7D31"/>
              </a:solidFill>
              <a:latin typeface="Calibri" panose="020F0502020204030204"/>
            </a:endParaRPr>
          </a:p>
          <a:p>
            <a:pPr defTabSz="1371600"/>
            <a:endParaRPr lang="en-US" altLang="en-IN" sz="8100" b="1" spc="-2" dirty="0">
              <a:solidFill>
                <a:srgbClr val="ED7D31"/>
              </a:solidFill>
              <a:latin typeface="Calibri" panose="020F0502020204030204"/>
            </a:endParaRPr>
          </a:p>
        </p:txBody>
      </p:sp>
      <p:pic>
        <p:nvPicPr>
          <p:cNvPr id="4" name="Picture 3" descr="A screenshot of a computer">
            <a:extLst>
              <a:ext uri="{FF2B5EF4-FFF2-40B4-BE49-F238E27FC236}">
                <a16:creationId xmlns:a16="http://schemas.microsoft.com/office/drawing/2014/main" id="{AD74368A-E6ED-C636-BF4D-91EC555B27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1409700"/>
            <a:ext cx="9169399" cy="5410200"/>
          </a:xfrm>
          <a:prstGeom prst="rect">
            <a:avLst/>
          </a:prstGeom>
        </p:spPr>
      </p:pic>
      <p:pic>
        <p:nvPicPr>
          <p:cNvPr id="7" name="Picture 6" descr="A black background with white text&#10;&#10;AI-generated content may be incorrect.">
            <a:extLst>
              <a:ext uri="{FF2B5EF4-FFF2-40B4-BE49-F238E27FC236}">
                <a16:creationId xmlns:a16="http://schemas.microsoft.com/office/drawing/2014/main" id="{B2E85145-50F3-BD31-8BBB-8134671606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399" y="7157562"/>
            <a:ext cx="9169399" cy="1357313"/>
          </a:xfrm>
          <a:prstGeom prst="rect">
            <a:avLst/>
          </a:prstGeom>
        </p:spPr>
      </p:pic>
      <p:pic>
        <p:nvPicPr>
          <p:cNvPr id="9" name="Picture 8" descr="A black background with white text&#10;&#10;AI-generated content may be incorrect.">
            <a:extLst>
              <a:ext uri="{FF2B5EF4-FFF2-40B4-BE49-F238E27FC236}">
                <a16:creationId xmlns:a16="http://schemas.microsoft.com/office/drawing/2014/main" id="{516881F8-BBE6-DF44-9601-94C2F963DD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6169" y="8724900"/>
            <a:ext cx="9169399" cy="1099323"/>
          </a:xfrm>
          <a:prstGeom prst="rect">
            <a:avLst/>
          </a:prstGeom>
        </p:spPr>
      </p:pic>
    </p:spTree>
    <p:extLst>
      <p:ext uri="{BB962C8B-B14F-4D97-AF65-F5344CB8AC3E}">
        <p14:creationId xmlns:p14="http://schemas.microsoft.com/office/powerpoint/2010/main" val="3461701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0375406A-0063-1196-F218-B7721309C621}"/>
            </a:ext>
          </a:extLst>
        </p:cNvPr>
        <p:cNvGrpSpPr/>
        <p:nvPr/>
      </p:nvGrpSpPr>
      <p:grpSpPr>
        <a:xfrm>
          <a:off x="0" y="0"/>
          <a:ext cx="0" cy="0"/>
          <a:chOff x="0" y="0"/>
          <a:chExt cx="0" cy="0"/>
        </a:xfrm>
      </p:grpSpPr>
      <p:sp>
        <p:nvSpPr>
          <p:cNvPr id="3" name="Text Box 2">
            <a:extLst>
              <a:ext uri="{FF2B5EF4-FFF2-40B4-BE49-F238E27FC236}">
                <a16:creationId xmlns:a16="http://schemas.microsoft.com/office/drawing/2014/main" id="{0F091E8E-F7E2-27C5-9803-5098D800E113}"/>
              </a:ext>
            </a:extLst>
          </p:cNvPr>
          <p:cNvSpPr txBox="1"/>
          <p:nvPr/>
        </p:nvSpPr>
        <p:spPr>
          <a:xfrm>
            <a:off x="762000" y="419100"/>
            <a:ext cx="12529185" cy="1357313"/>
          </a:xfrm>
          <a:prstGeom prst="rect">
            <a:avLst/>
          </a:prstGeom>
          <a:noFill/>
        </p:spPr>
        <p:txBody>
          <a:bodyPr wrap="square" rtlCol="0">
            <a:noAutofit/>
          </a:bodyPr>
          <a:lstStyle/>
          <a:p>
            <a:pPr defTabSz="1371600"/>
            <a:r>
              <a:rPr lang="en-IN" sz="5400" b="1" spc="-2" dirty="0">
                <a:solidFill>
                  <a:prstClr val="white"/>
                </a:solidFill>
                <a:latin typeface="Calibri" panose="020F0502020204030204"/>
                <a:sym typeface="+mn-ea"/>
              </a:rPr>
              <a:t>S</a:t>
            </a:r>
            <a:r>
              <a:rPr lang="en-IN" sz="5400" b="1" spc="-2" dirty="0">
                <a:solidFill>
                  <a:schemeClr val="accent2"/>
                </a:solidFill>
                <a:latin typeface="Calibri" panose="020F0502020204030204"/>
                <a:sym typeface="+mn-ea"/>
              </a:rPr>
              <a:t>alary</a:t>
            </a:r>
            <a:r>
              <a:rPr lang="en-IN" sz="5400" b="1" spc="-2" dirty="0">
                <a:solidFill>
                  <a:prstClr val="white"/>
                </a:solidFill>
                <a:latin typeface="Calibri" panose="020F0502020204030204"/>
                <a:sym typeface="+mn-ea"/>
              </a:rPr>
              <a:t> P</a:t>
            </a:r>
            <a:r>
              <a:rPr lang="en-IN" sz="5400" b="1" spc="-2" dirty="0">
                <a:solidFill>
                  <a:schemeClr val="accent2"/>
                </a:solidFill>
                <a:latin typeface="Calibri" panose="020F0502020204030204"/>
                <a:sym typeface="+mn-ea"/>
              </a:rPr>
              <a:t>ackage</a:t>
            </a:r>
            <a:r>
              <a:rPr lang="en-IN" sz="5400" b="1" spc="-2" dirty="0">
                <a:solidFill>
                  <a:prstClr val="white"/>
                </a:solidFill>
                <a:latin typeface="Calibri" panose="020F0502020204030204"/>
                <a:sym typeface="+mn-ea"/>
              </a:rPr>
              <a:t> A</a:t>
            </a:r>
            <a:r>
              <a:rPr lang="en-IN" sz="5400" b="1" spc="-2" dirty="0">
                <a:solidFill>
                  <a:schemeClr val="accent2"/>
                </a:solidFill>
                <a:latin typeface="Calibri" panose="020F0502020204030204"/>
                <a:sym typeface="+mn-ea"/>
              </a:rPr>
              <a:t>fter</a:t>
            </a:r>
            <a:r>
              <a:rPr lang="en-IN" sz="5400" b="1" spc="-2" dirty="0">
                <a:solidFill>
                  <a:prstClr val="white"/>
                </a:solidFill>
                <a:latin typeface="Calibri" panose="020F0502020204030204"/>
                <a:sym typeface="+mn-ea"/>
              </a:rPr>
              <a:t> 5 Y</a:t>
            </a:r>
            <a:r>
              <a:rPr lang="en-IN" sz="5400" b="1" spc="-2" dirty="0">
                <a:solidFill>
                  <a:schemeClr val="accent2"/>
                </a:solidFill>
                <a:latin typeface="Calibri" panose="020F0502020204030204"/>
                <a:sym typeface="+mn-ea"/>
              </a:rPr>
              <a:t>ears</a:t>
            </a:r>
            <a:r>
              <a:rPr lang="en-IN" sz="5400" b="1" spc="-2" dirty="0">
                <a:solidFill>
                  <a:prstClr val="white"/>
                </a:solidFill>
                <a:latin typeface="Calibri" panose="020F0502020204030204"/>
                <a:sym typeface="+mn-ea"/>
              </a:rPr>
              <a:t> </a:t>
            </a:r>
            <a:endParaRPr lang="en-IN" sz="5400" b="1" spc="-2" dirty="0">
              <a:solidFill>
                <a:srgbClr val="ED7D31"/>
              </a:solidFill>
              <a:latin typeface="Calibri" panose="020F0502020204030204"/>
            </a:endParaRPr>
          </a:p>
          <a:p>
            <a:pPr defTabSz="1371600"/>
            <a:endParaRPr lang="en-US" altLang="en-IN" sz="8100" b="1" spc="-2" dirty="0">
              <a:solidFill>
                <a:srgbClr val="ED7D31"/>
              </a:solidFill>
              <a:latin typeface="Calibri" panose="020F0502020204030204"/>
            </a:endParaRPr>
          </a:p>
        </p:txBody>
      </p:sp>
      <p:pic>
        <p:nvPicPr>
          <p:cNvPr id="4" name="Picture 3" descr="A screenshot of a computer">
            <a:extLst>
              <a:ext uri="{FF2B5EF4-FFF2-40B4-BE49-F238E27FC236}">
                <a16:creationId xmlns:a16="http://schemas.microsoft.com/office/drawing/2014/main" id="{04A7D607-27A5-A5FF-9820-34E261EDE3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1777727"/>
            <a:ext cx="11971873" cy="7134636"/>
          </a:xfrm>
          <a:prstGeom prst="rect">
            <a:avLst/>
          </a:prstGeom>
        </p:spPr>
      </p:pic>
    </p:spTree>
    <p:extLst>
      <p:ext uri="{BB962C8B-B14F-4D97-AF65-F5344CB8AC3E}">
        <p14:creationId xmlns:p14="http://schemas.microsoft.com/office/powerpoint/2010/main" val="2924320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Text Box 2"/>
          <p:cNvSpPr txBox="1"/>
          <p:nvPr/>
        </p:nvSpPr>
        <p:spPr>
          <a:xfrm>
            <a:off x="359561" y="314366"/>
            <a:ext cx="13539320" cy="1214179"/>
          </a:xfrm>
          <a:prstGeom prst="rect">
            <a:avLst/>
          </a:prstGeom>
          <a:noFill/>
        </p:spPr>
        <p:txBody>
          <a:bodyPr wrap="square" rtlCol="0">
            <a:spAutoFit/>
          </a:bodyPr>
          <a:lstStyle/>
          <a:p>
            <a:pPr defTabSz="1371600">
              <a:lnSpc>
                <a:spcPct val="90000"/>
              </a:lnSpc>
              <a:spcBef>
                <a:spcPts val="1500"/>
              </a:spcBef>
              <a:buClr>
                <a:srgbClr val="FFFFFF"/>
              </a:buClr>
            </a:pPr>
            <a:r>
              <a:rPr lang="en-IN" sz="8100" b="1" spc="-2" dirty="0">
                <a:solidFill>
                  <a:srgbClr val="ED7D31"/>
                </a:solidFill>
                <a:latin typeface="Calibri" panose="020F0502020204030204"/>
              </a:rPr>
              <a:t>JOB PROFILES</a:t>
            </a:r>
          </a:p>
        </p:txBody>
      </p:sp>
      <p:sp>
        <p:nvSpPr>
          <p:cNvPr id="4" name="Text Box 3"/>
          <p:cNvSpPr txBox="1"/>
          <p:nvPr/>
        </p:nvSpPr>
        <p:spPr>
          <a:xfrm>
            <a:off x="359561" y="2204903"/>
            <a:ext cx="12337007" cy="8619617"/>
          </a:xfrm>
          <a:prstGeom prst="rect">
            <a:avLst/>
          </a:prstGeom>
          <a:noFill/>
        </p:spPr>
        <p:txBody>
          <a:bodyPr wrap="square" rtlCol="0">
            <a:noAutofit/>
          </a:bodyPr>
          <a:lstStyle/>
          <a:p>
            <a:pPr marL="685800" indent="-684848" defTabSz="1371600">
              <a:lnSpc>
                <a:spcPct val="90000"/>
              </a:lnSpc>
              <a:spcBef>
                <a:spcPts val="1500"/>
              </a:spcBef>
              <a:buClr>
                <a:srgbClr val="FFFFFF"/>
              </a:buClr>
              <a:buFont typeface="Arial" panose="020B0604020202020204"/>
              <a:buChar char="•"/>
            </a:pPr>
            <a:r>
              <a:rPr lang="en-IN" sz="3600" spc="-2" dirty="0">
                <a:solidFill>
                  <a:srgbClr val="FFFFFF"/>
                </a:solidFill>
                <a:latin typeface="Times New Roman" panose="02020603050405020304"/>
              </a:rPr>
              <a:t>Data Scientist</a:t>
            </a:r>
          </a:p>
          <a:p>
            <a:pPr marL="685800" indent="-684848" defTabSz="1371600">
              <a:lnSpc>
                <a:spcPct val="90000"/>
              </a:lnSpc>
              <a:spcBef>
                <a:spcPts val="1500"/>
              </a:spcBef>
              <a:buClr>
                <a:srgbClr val="FFFFFF"/>
              </a:buClr>
              <a:buFont typeface="Arial" panose="020B0604020202020204"/>
              <a:buChar char="•"/>
            </a:pPr>
            <a:r>
              <a:rPr lang="en-IN" sz="3600" spc="-2" dirty="0">
                <a:solidFill>
                  <a:srgbClr val="FFFFFF"/>
                </a:solidFill>
                <a:latin typeface="Times New Roman" panose="02020603050405020304"/>
              </a:rPr>
              <a:t>Data Analyst</a:t>
            </a:r>
          </a:p>
          <a:p>
            <a:pPr marL="685800" indent="-684848" defTabSz="1371600">
              <a:lnSpc>
                <a:spcPct val="90000"/>
              </a:lnSpc>
              <a:spcBef>
                <a:spcPts val="1500"/>
              </a:spcBef>
              <a:buClr>
                <a:srgbClr val="FFFFFF"/>
              </a:buClr>
              <a:buFont typeface="Arial" panose="020B0604020202020204"/>
              <a:buChar char="•"/>
            </a:pPr>
            <a:r>
              <a:rPr lang="en-IN" sz="3600" spc="-2" dirty="0">
                <a:solidFill>
                  <a:srgbClr val="FFFFFF"/>
                </a:solidFill>
                <a:latin typeface="Times New Roman" panose="02020603050405020304"/>
              </a:rPr>
              <a:t>Machine Learning Engineer</a:t>
            </a:r>
          </a:p>
          <a:p>
            <a:pPr marL="685800" indent="-684848" defTabSz="1371600">
              <a:lnSpc>
                <a:spcPct val="90000"/>
              </a:lnSpc>
              <a:spcBef>
                <a:spcPts val="1500"/>
              </a:spcBef>
              <a:buClr>
                <a:srgbClr val="FFFFFF"/>
              </a:buClr>
              <a:buFont typeface="Arial" panose="020B0604020202020204"/>
              <a:buChar char="•"/>
            </a:pPr>
            <a:r>
              <a:rPr lang="en-US" sz="3600" spc="-2" dirty="0">
                <a:solidFill>
                  <a:srgbClr val="FFFFFF"/>
                </a:solidFill>
                <a:latin typeface="Times New Roman" panose="02020603050405020304"/>
              </a:rPr>
              <a:t>Python Developer</a:t>
            </a:r>
          </a:p>
          <a:p>
            <a:pPr marL="685800" indent="-684848" defTabSz="1371600">
              <a:lnSpc>
                <a:spcPct val="90000"/>
              </a:lnSpc>
              <a:spcBef>
                <a:spcPts val="1500"/>
              </a:spcBef>
              <a:buClr>
                <a:srgbClr val="FFFFFF"/>
              </a:buClr>
              <a:buFont typeface="Arial" panose="020B0604020202020204"/>
              <a:buChar char="•"/>
            </a:pPr>
            <a:r>
              <a:rPr lang="en-US" sz="3600" spc="-2" dirty="0">
                <a:solidFill>
                  <a:srgbClr val="FFFFFF"/>
                </a:solidFill>
                <a:latin typeface="Times New Roman" panose="02020603050405020304"/>
              </a:rPr>
              <a:t>Database Administrator</a:t>
            </a:r>
            <a:endParaRPr lang="en-IN" sz="3600" spc="-2" dirty="0">
              <a:solidFill>
                <a:srgbClr val="FFFFFF"/>
              </a:solidFill>
              <a:latin typeface="Times New Roman" panose="02020603050405020304"/>
            </a:endParaRPr>
          </a:p>
          <a:p>
            <a:pPr marL="685800" indent="-684848" defTabSz="1371600">
              <a:lnSpc>
                <a:spcPct val="90000"/>
              </a:lnSpc>
              <a:spcBef>
                <a:spcPts val="1500"/>
              </a:spcBef>
              <a:buClr>
                <a:srgbClr val="FFFFFF"/>
              </a:buClr>
              <a:buFont typeface="Arial" panose="020B0604020202020204"/>
              <a:buChar char="•"/>
            </a:pPr>
            <a:r>
              <a:rPr lang="en-IN" sz="3600" spc="-2" dirty="0">
                <a:solidFill>
                  <a:srgbClr val="FFFFFF"/>
                </a:solidFill>
                <a:latin typeface="Times New Roman" panose="02020603050405020304"/>
              </a:rPr>
              <a:t>Business Intelligence (BI) Analyst</a:t>
            </a:r>
          </a:p>
          <a:p>
            <a:pPr marL="685800" indent="-684848" defTabSz="1371600">
              <a:lnSpc>
                <a:spcPct val="90000"/>
              </a:lnSpc>
              <a:spcBef>
                <a:spcPts val="1500"/>
              </a:spcBef>
              <a:buClr>
                <a:srgbClr val="FFFFFF"/>
              </a:buClr>
              <a:buFont typeface="Arial" panose="020B0604020202020204"/>
              <a:buChar char="•"/>
            </a:pPr>
            <a:r>
              <a:rPr lang="en-IN" sz="3600" spc="-2" dirty="0">
                <a:solidFill>
                  <a:srgbClr val="FFFFFF"/>
                </a:solidFill>
                <a:latin typeface="Times New Roman" panose="02020603050405020304"/>
              </a:rPr>
              <a:t>Data Engineer</a:t>
            </a:r>
          </a:p>
          <a:p>
            <a:pPr marL="685800" indent="-684848" defTabSz="1371600">
              <a:lnSpc>
                <a:spcPct val="90000"/>
              </a:lnSpc>
              <a:spcBef>
                <a:spcPts val="1500"/>
              </a:spcBef>
              <a:buClr>
                <a:srgbClr val="FFFFFF"/>
              </a:buClr>
              <a:buFont typeface="Arial" panose="020B0604020202020204"/>
              <a:buChar char="•"/>
            </a:pPr>
            <a:r>
              <a:rPr lang="en-IN" sz="3600" spc="-2" dirty="0">
                <a:solidFill>
                  <a:srgbClr val="FFFFFF"/>
                </a:solidFill>
                <a:latin typeface="Times New Roman" panose="02020603050405020304"/>
              </a:rPr>
              <a:t>Statistician expert Engineer</a:t>
            </a:r>
          </a:p>
          <a:p>
            <a:pPr marL="685800" indent="-684848" defTabSz="1371600">
              <a:lnSpc>
                <a:spcPct val="90000"/>
              </a:lnSpc>
              <a:spcBef>
                <a:spcPts val="1500"/>
              </a:spcBef>
              <a:buClr>
                <a:srgbClr val="FFFFFF"/>
              </a:buClr>
              <a:buFont typeface="Arial" panose="020B0604020202020204"/>
              <a:buChar char="•"/>
            </a:pPr>
            <a:r>
              <a:rPr lang="en-IN" sz="3600" spc="-2" dirty="0">
                <a:solidFill>
                  <a:srgbClr val="FFFFFF"/>
                </a:solidFill>
                <a:latin typeface="Times New Roman" panose="02020603050405020304"/>
              </a:rPr>
              <a:t>Quantitative Analyst</a:t>
            </a:r>
          </a:p>
          <a:p>
            <a:pPr marL="685800" indent="-684848" defTabSz="1371600">
              <a:lnSpc>
                <a:spcPct val="90000"/>
              </a:lnSpc>
              <a:spcBef>
                <a:spcPts val="1500"/>
              </a:spcBef>
              <a:buClr>
                <a:srgbClr val="FFFFFF"/>
              </a:buClr>
              <a:buFont typeface="Arial" panose="020B0604020202020204"/>
              <a:buChar char="•"/>
            </a:pPr>
            <a:r>
              <a:rPr lang="en-IN" sz="3600" spc="-2" dirty="0">
                <a:solidFill>
                  <a:srgbClr val="FFFFFF"/>
                </a:solidFill>
                <a:latin typeface="Times New Roman" panose="02020603050405020304"/>
              </a:rPr>
              <a:t>Research Scientist</a:t>
            </a:r>
          </a:p>
          <a:p>
            <a:pPr marL="685800" indent="-684848" defTabSz="1371600">
              <a:lnSpc>
                <a:spcPct val="90000"/>
              </a:lnSpc>
              <a:spcBef>
                <a:spcPts val="1500"/>
              </a:spcBef>
              <a:buClr>
                <a:srgbClr val="FFFFFF"/>
              </a:buClr>
              <a:buFont typeface="Arial" panose="020B0604020202020204"/>
              <a:buChar char="•"/>
            </a:pPr>
            <a:r>
              <a:rPr lang="en-IN" sz="3600" spc="-2" dirty="0">
                <a:solidFill>
                  <a:srgbClr val="FFFFFF"/>
                </a:solidFill>
                <a:latin typeface="Times New Roman" panose="02020603050405020304"/>
              </a:rPr>
              <a:t>AI/ML Researcher</a:t>
            </a:r>
          </a:p>
        </p:txBody>
      </p:sp>
    </p:spTree>
    <p:extLst>
      <p:ext uri="{BB962C8B-B14F-4D97-AF65-F5344CB8AC3E}">
        <p14:creationId xmlns:p14="http://schemas.microsoft.com/office/powerpoint/2010/main" val="1828867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01BEB-0707-4279-40D7-B8EA4D279111}"/>
            </a:ext>
          </a:extLst>
        </p:cNvPr>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986" y="581025"/>
            <a:ext cx="17052028" cy="9124950"/>
          </a:xfrm>
          <a:prstGeom prst="rect">
            <a:avLst/>
          </a:prstGeom>
        </p:spPr>
      </p:pic>
    </p:spTree>
    <p:extLst>
      <p:ext uri="{BB962C8B-B14F-4D97-AF65-F5344CB8AC3E}">
        <p14:creationId xmlns:p14="http://schemas.microsoft.com/office/powerpoint/2010/main" val="624161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4315F-5485-26F5-C07C-9D115D100F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03A56E9-CC07-5752-35BC-74C36EEF30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0DB2FA8C-8C07-3CEA-FF22-FC490C7B209F}"/>
              </a:ext>
            </a:extLst>
          </p:cNvPr>
          <p:cNvSpPr txBox="1"/>
          <p:nvPr/>
        </p:nvSpPr>
        <p:spPr>
          <a:xfrm>
            <a:off x="4724400" y="430185"/>
            <a:ext cx="11604769" cy="1423531"/>
          </a:xfrm>
          <a:prstGeom prst="rect">
            <a:avLst/>
          </a:prstGeom>
        </p:spPr>
        <p:txBody>
          <a:bodyPr wrap="square" lIns="0" tIns="0" rIns="0" bIns="0" rtlCol="0" anchor="t">
            <a:spAutoFit/>
          </a:bodyPr>
          <a:lstStyle/>
          <a:p>
            <a:pPr>
              <a:lnSpc>
                <a:spcPts val="12880"/>
              </a:lnSpc>
            </a:pPr>
            <a:r>
              <a:rPr lang="en-US" sz="5400" b="1" spc="-1" dirty="0">
                <a:solidFill>
                  <a:srgbClr val="ED7D31"/>
                </a:solidFill>
                <a:latin typeface="Calibri" panose="020F0502020204030204"/>
              </a:rPr>
              <a:t>What Is Machine Learning?</a:t>
            </a:r>
          </a:p>
        </p:txBody>
      </p:sp>
      <p:sp>
        <p:nvSpPr>
          <p:cNvPr id="16" name="TextBox 15">
            <a:extLst>
              <a:ext uri="{FF2B5EF4-FFF2-40B4-BE49-F238E27FC236}">
                <a16:creationId xmlns:a16="http://schemas.microsoft.com/office/drawing/2014/main" id="{77011696-8AE8-E7AD-18A6-38927DCA134F}"/>
              </a:ext>
            </a:extLst>
          </p:cNvPr>
          <p:cNvSpPr txBox="1"/>
          <p:nvPr/>
        </p:nvSpPr>
        <p:spPr>
          <a:xfrm>
            <a:off x="914400" y="2924084"/>
            <a:ext cx="7171846" cy="5509200"/>
          </a:xfrm>
          <a:prstGeom prst="rect">
            <a:avLst/>
          </a:prstGeom>
          <a:noFill/>
        </p:spPr>
        <p:txBody>
          <a:bodyPr wrap="square" rtlCol="0">
            <a:spAutoFit/>
          </a:bodyPr>
          <a:lstStyle/>
          <a:p>
            <a:pPr algn="just"/>
            <a:r>
              <a:rPr lang="en-US" sz="3200" dirty="0">
                <a:solidFill>
                  <a:schemeClr val="bg1">
                    <a:lumMod val="95000"/>
                  </a:schemeClr>
                </a:solidFill>
              </a:rPr>
              <a:t>Machine learning (ML) is a branch of artificial intelligence that enables computers to learn from data and improve their performance on tasks without being explicitly programmed. It involves developing algorithms that can identify patterns, make predictions, or make decisions based on input data. Common applications include recommendation systems, image classification, and fraud detection.</a:t>
            </a:r>
            <a:endParaRPr lang="en-IN" sz="3200" dirty="0">
              <a:solidFill>
                <a:schemeClr val="bg1">
                  <a:lumMod val="95000"/>
                </a:schemeClr>
              </a:solidFill>
            </a:endParaRPr>
          </a:p>
        </p:txBody>
      </p:sp>
      <p:pic>
        <p:nvPicPr>
          <p:cNvPr id="4" name="Picture 3">
            <a:extLst>
              <a:ext uri="{FF2B5EF4-FFF2-40B4-BE49-F238E27FC236}">
                <a16:creationId xmlns:a16="http://schemas.microsoft.com/office/drawing/2014/main" id="{61B74911-C17E-497F-05F2-713807814A8D}"/>
              </a:ext>
            </a:extLst>
          </p:cNvPr>
          <p:cNvPicPr>
            <a:picLocks noChangeAspect="1"/>
          </p:cNvPicPr>
          <p:nvPr/>
        </p:nvPicPr>
        <p:blipFill>
          <a:blip r:embed="rId3"/>
          <a:stretch>
            <a:fillRect/>
          </a:stretch>
        </p:blipFill>
        <p:spPr>
          <a:xfrm>
            <a:off x="9372600" y="3185803"/>
            <a:ext cx="5029374" cy="4985763"/>
          </a:xfrm>
          <a:prstGeom prst="rect">
            <a:avLst/>
          </a:prstGeom>
        </p:spPr>
      </p:pic>
    </p:spTree>
    <p:extLst>
      <p:ext uri="{BB962C8B-B14F-4D97-AF65-F5344CB8AC3E}">
        <p14:creationId xmlns:p14="http://schemas.microsoft.com/office/powerpoint/2010/main" val="180929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D4C93-9BA9-76A4-1360-D03EBE9CA4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6A633B4-165A-8195-8892-9232A3B553B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5D11542F-657F-C693-55A9-8E188CD586C8}"/>
              </a:ext>
            </a:extLst>
          </p:cNvPr>
          <p:cNvSpPr txBox="1"/>
          <p:nvPr/>
        </p:nvSpPr>
        <p:spPr>
          <a:xfrm>
            <a:off x="4618137" y="1079707"/>
            <a:ext cx="7658100" cy="1443857"/>
          </a:xfrm>
          <a:prstGeom prst="rect">
            <a:avLst/>
          </a:prstGeom>
        </p:spPr>
        <p:txBody>
          <a:bodyPr wrap="square" lIns="0" tIns="0" rIns="0" bIns="0" rtlCol="0" anchor="t">
            <a:spAutoFit/>
          </a:bodyPr>
          <a:lstStyle/>
          <a:p>
            <a:pPr>
              <a:lnSpc>
                <a:spcPts val="12880"/>
              </a:lnSpc>
            </a:pPr>
            <a:r>
              <a:rPr lang="en-US" sz="6000" b="1" spc="-1" dirty="0">
                <a:solidFill>
                  <a:srgbClr val="ED7D31"/>
                </a:solidFill>
                <a:latin typeface="Calibri" panose="020F0502020204030204"/>
              </a:rPr>
              <a:t>What Is Deep Learning?</a:t>
            </a:r>
          </a:p>
        </p:txBody>
      </p:sp>
      <p:pic>
        <p:nvPicPr>
          <p:cNvPr id="8" name="Picture 7">
            <a:extLst>
              <a:ext uri="{FF2B5EF4-FFF2-40B4-BE49-F238E27FC236}">
                <a16:creationId xmlns:a16="http://schemas.microsoft.com/office/drawing/2014/main" id="{E064F642-E4F9-E1A1-C916-7E14E2A03659}"/>
              </a:ext>
            </a:extLst>
          </p:cNvPr>
          <p:cNvPicPr>
            <a:picLocks noChangeAspect="1"/>
          </p:cNvPicPr>
          <p:nvPr/>
        </p:nvPicPr>
        <p:blipFill>
          <a:blip r:embed="rId3"/>
          <a:stretch>
            <a:fillRect/>
          </a:stretch>
        </p:blipFill>
        <p:spPr>
          <a:xfrm>
            <a:off x="8915400" y="3771900"/>
            <a:ext cx="5715000" cy="3457122"/>
          </a:xfrm>
          <a:prstGeom prst="rect">
            <a:avLst/>
          </a:prstGeom>
        </p:spPr>
      </p:pic>
      <p:sp>
        <p:nvSpPr>
          <p:cNvPr id="16" name="TextBox 15">
            <a:extLst>
              <a:ext uri="{FF2B5EF4-FFF2-40B4-BE49-F238E27FC236}">
                <a16:creationId xmlns:a16="http://schemas.microsoft.com/office/drawing/2014/main" id="{7091B474-EACC-0F60-2216-DDB3A4A49258}"/>
              </a:ext>
            </a:extLst>
          </p:cNvPr>
          <p:cNvSpPr txBox="1"/>
          <p:nvPr/>
        </p:nvSpPr>
        <p:spPr>
          <a:xfrm>
            <a:off x="428883" y="3603271"/>
            <a:ext cx="8018304" cy="4524315"/>
          </a:xfrm>
          <a:prstGeom prst="rect">
            <a:avLst/>
          </a:prstGeom>
          <a:noFill/>
        </p:spPr>
        <p:txBody>
          <a:bodyPr wrap="square" rtlCol="0">
            <a:spAutoFit/>
          </a:bodyPr>
          <a:lstStyle/>
          <a:p>
            <a:pPr algn="just"/>
            <a:r>
              <a:rPr lang="en-US" sz="3200" dirty="0">
                <a:solidFill>
                  <a:schemeClr val="bg1">
                    <a:lumMod val="95000"/>
                  </a:schemeClr>
                </a:solidFill>
              </a:rPr>
              <a:t>Deep learning is a subset of machine learning that uses artificial neural networks with multiple layers to model and learn complex patterns and representations from large amounts of data. It mimics the way the human brain processes information, making it particularly effective for tasks like image and speech recognition, natural language processing, and autonomous systems.</a:t>
            </a:r>
            <a:endParaRPr lang="en-IN" sz="3200" dirty="0">
              <a:solidFill>
                <a:schemeClr val="bg1">
                  <a:lumMod val="95000"/>
                </a:schemeClr>
              </a:solidFill>
            </a:endParaRPr>
          </a:p>
        </p:txBody>
      </p:sp>
    </p:spTree>
    <p:extLst>
      <p:ext uri="{BB962C8B-B14F-4D97-AF65-F5344CB8AC3E}">
        <p14:creationId xmlns:p14="http://schemas.microsoft.com/office/powerpoint/2010/main" val="1300128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63D96-0278-438A-A129-8E1FB410749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6339F88-510E-3338-C47D-5E56545E8E7B}"/>
              </a:ext>
            </a:extLst>
          </p:cNvPr>
          <p:cNvSpPr/>
          <p:nvPr/>
        </p:nvSpPr>
        <p:spPr>
          <a:xfrm>
            <a:off x="4916"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pic>
        <p:nvPicPr>
          <p:cNvPr id="4" name="Picture 3">
            <a:extLst>
              <a:ext uri="{FF2B5EF4-FFF2-40B4-BE49-F238E27FC236}">
                <a16:creationId xmlns:a16="http://schemas.microsoft.com/office/drawing/2014/main" id="{2A248AB7-72B7-F6E5-D293-D3477ABDDE98}"/>
              </a:ext>
            </a:extLst>
          </p:cNvPr>
          <p:cNvPicPr>
            <a:picLocks noChangeAspect="1"/>
          </p:cNvPicPr>
          <p:nvPr/>
        </p:nvPicPr>
        <p:blipFill>
          <a:blip r:embed="rId3"/>
          <a:stretch>
            <a:fillRect/>
          </a:stretch>
        </p:blipFill>
        <p:spPr>
          <a:xfrm>
            <a:off x="2438400" y="2973051"/>
            <a:ext cx="11291823" cy="5557694"/>
          </a:xfrm>
          <a:prstGeom prst="rect">
            <a:avLst/>
          </a:prstGeom>
        </p:spPr>
      </p:pic>
      <p:sp>
        <p:nvSpPr>
          <p:cNvPr id="6" name="TextBox 5">
            <a:extLst>
              <a:ext uri="{FF2B5EF4-FFF2-40B4-BE49-F238E27FC236}">
                <a16:creationId xmlns:a16="http://schemas.microsoft.com/office/drawing/2014/main" id="{C01CDCC6-F1F1-A221-E731-A6AA0B7B2D31}"/>
              </a:ext>
            </a:extLst>
          </p:cNvPr>
          <p:cNvSpPr txBox="1"/>
          <p:nvPr/>
        </p:nvSpPr>
        <p:spPr>
          <a:xfrm>
            <a:off x="2178811" y="1248423"/>
            <a:ext cx="11811000" cy="1015663"/>
          </a:xfrm>
          <a:prstGeom prst="rect">
            <a:avLst/>
          </a:prstGeom>
          <a:noFill/>
        </p:spPr>
        <p:txBody>
          <a:bodyPr wrap="square" rtlCol="0">
            <a:spAutoFit/>
          </a:bodyPr>
          <a:lstStyle/>
          <a:p>
            <a:r>
              <a:rPr lang="en-US" sz="6000" b="1" dirty="0">
                <a:solidFill>
                  <a:schemeClr val="accent6"/>
                </a:solidFill>
              </a:rPr>
              <a:t>Machine Learning Vs Deep Learning</a:t>
            </a:r>
            <a:endParaRPr lang="en-IN" sz="6000" b="1" dirty="0">
              <a:solidFill>
                <a:schemeClr val="accent6"/>
              </a:solidFill>
            </a:endParaRPr>
          </a:p>
        </p:txBody>
      </p:sp>
    </p:spTree>
    <p:extLst>
      <p:ext uri="{BB962C8B-B14F-4D97-AF65-F5344CB8AC3E}">
        <p14:creationId xmlns:p14="http://schemas.microsoft.com/office/powerpoint/2010/main" val="3994380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A160-7C97-EA3A-EF9E-006B1D7D72F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AFB6A98-C072-5198-08F8-E5178B3A610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6" name="TextBox 5">
            <a:extLst>
              <a:ext uri="{FF2B5EF4-FFF2-40B4-BE49-F238E27FC236}">
                <a16:creationId xmlns:a16="http://schemas.microsoft.com/office/drawing/2014/main" id="{A76E7959-FB92-B78F-C122-417C0544346D}"/>
              </a:ext>
            </a:extLst>
          </p:cNvPr>
          <p:cNvSpPr txBox="1"/>
          <p:nvPr/>
        </p:nvSpPr>
        <p:spPr>
          <a:xfrm>
            <a:off x="5490352" y="1179746"/>
            <a:ext cx="11811000" cy="1015663"/>
          </a:xfrm>
          <a:prstGeom prst="rect">
            <a:avLst/>
          </a:prstGeom>
          <a:noFill/>
        </p:spPr>
        <p:txBody>
          <a:bodyPr wrap="square" rtlCol="0">
            <a:spAutoFit/>
          </a:bodyPr>
          <a:lstStyle/>
          <a:p>
            <a:r>
              <a:rPr lang="en-US" sz="6000" b="1" dirty="0">
                <a:solidFill>
                  <a:schemeClr val="accent6"/>
                </a:solidFill>
              </a:rPr>
              <a:t>What is NLP ? </a:t>
            </a:r>
            <a:endParaRPr lang="en-IN" sz="6000" b="1" dirty="0">
              <a:solidFill>
                <a:schemeClr val="accent6"/>
              </a:solidFill>
            </a:endParaRPr>
          </a:p>
        </p:txBody>
      </p:sp>
      <p:pic>
        <p:nvPicPr>
          <p:cNvPr id="5" name="Picture 4">
            <a:extLst>
              <a:ext uri="{FF2B5EF4-FFF2-40B4-BE49-F238E27FC236}">
                <a16:creationId xmlns:a16="http://schemas.microsoft.com/office/drawing/2014/main" id="{2E745160-4469-7A17-9389-ADB59AB2FBDA}"/>
              </a:ext>
            </a:extLst>
          </p:cNvPr>
          <p:cNvPicPr>
            <a:picLocks noChangeAspect="1"/>
          </p:cNvPicPr>
          <p:nvPr/>
        </p:nvPicPr>
        <p:blipFill>
          <a:blip r:embed="rId3"/>
          <a:stretch>
            <a:fillRect/>
          </a:stretch>
        </p:blipFill>
        <p:spPr>
          <a:xfrm>
            <a:off x="8077200" y="3479631"/>
            <a:ext cx="6637305" cy="3327737"/>
          </a:xfrm>
          <a:prstGeom prst="rect">
            <a:avLst/>
          </a:prstGeom>
        </p:spPr>
      </p:pic>
      <p:sp>
        <p:nvSpPr>
          <p:cNvPr id="7" name="TextBox 6">
            <a:extLst>
              <a:ext uri="{FF2B5EF4-FFF2-40B4-BE49-F238E27FC236}">
                <a16:creationId xmlns:a16="http://schemas.microsoft.com/office/drawing/2014/main" id="{3F2B7B12-298D-D039-9EC1-11613C0D64B4}"/>
              </a:ext>
            </a:extLst>
          </p:cNvPr>
          <p:cNvSpPr txBox="1"/>
          <p:nvPr/>
        </p:nvSpPr>
        <p:spPr>
          <a:xfrm>
            <a:off x="1371600" y="3375154"/>
            <a:ext cx="6210300" cy="3970318"/>
          </a:xfrm>
          <a:prstGeom prst="rect">
            <a:avLst/>
          </a:prstGeom>
          <a:noFill/>
        </p:spPr>
        <p:txBody>
          <a:bodyPr wrap="square" rtlCol="0">
            <a:spAutoFit/>
          </a:bodyPr>
          <a:lstStyle/>
          <a:p>
            <a:pPr algn="just"/>
            <a:r>
              <a:rPr lang="en-US" sz="2800" dirty="0">
                <a:solidFill>
                  <a:schemeClr val="bg1"/>
                </a:solidFill>
              </a:rPr>
              <a:t>Natural Language Processing (NLP) is a field of artificial intelligence that focuses on enabling computers to understand, interpret, and generate human language. It combines linguistics, machine learning, and deep learning techniques to process text and speech. Applications include language translation, sentiment analysis, chatbots, and speech recognition.</a:t>
            </a:r>
            <a:endParaRPr lang="en-IN" sz="2800" dirty="0">
              <a:solidFill>
                <a:schemeClr val="bg1"/>
              </a:solidFill>
            </a:endParaRPr>
          </a:p>
        </p:txBody>
      </p:sp>
    </p:spTree>
    <p:extLst>
      <p:ext uri="{BB962C8B-B14F-4D97-AF65-F5344CB8AC3E}">
        <p14:creationId xmlns:p14="http://schemas.microsoft.com/office/powerpoint/2010/main" val="1109154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5400" y="3056247"/>
            <a:ext cx="5469012" cy="4373253"/>
          </a:xfrm>
          <a:prstGeom prst="rect">
            <a:avLst/>
          </a:prstGeom>
        </p:spPr>
      </p:pic>
      <p:sp>
        <p:nvSpPr>
          <p:cNvPr id="6" name="TextBox 5"/>
          <p:cNvSpPr txBox="1"/>
          <p:nvPr/>
        </p:nvSpPr>
        <p:spPr>
          <a:xfrm>
            <a:off x="685800" y="4305300"/>
            <a:ext cx="10058400" cy="1862048"/>
          </a:xfrm>
          <a:prstGeom prst="rect">
            <a:avLst/>
          </a:prstGeom>
          <a:noFill/>
        </p:spPr>
        <p:txBody>
          <a:bodyPr wrap="square" rtlCol="0">
            <a:spAutoFit/>
          </a:bodyPr>
          <a:lstStyle/>
          <a:p>
            <a:r>
              <a:rPr lang="en-US" sz="11500" b="1" spc="-1" dirty="0">
                <a:solidFill>
                  <a:schemeClr val="accent6">
                    <a:lumMod val="75000"/>
                  </a:schemeClr>
                </a:solidFill>
                <a:latin typeface="Lucida Calligraphy" panose="03010101010101010101" pitchFamily="66" charset="0"/>
              </a:rPr>
              <a:t>G</a:t>
            </a:r>
            <a:r>
              <a:rPr lang="en-US" sz="11500" b="1" spc="-1" dirty="0">
                <a:solidFill>
                  <a:schemeClr val="bg1"/>
                </a:solidFill>
                <a:latin typeface="Lucida Calligraphy" panose="03010101010101010101" pitchFamily="66" charset="0"/>
              </a:rPr>
              <a:t>enerative</a:t>
            </a:r>
            <a:endParaRPr lang="en-IN" sz="11500" b="1" spc="-1" dirty="0">
              <a:solidFill>
                <a:schemeClr val="bg1"/>
              </a:solidFill>
              <a:latin typeface="Lucida Calligraphy" panose="03010101010101010101" pitchFamily="66" charset="0"/>
            </a:endParaRPr>
          </a:p>
        </p:txBody>
      </p:sp>
      <p:cxnSp>
        <p:nvCxnSpPr>
          <p:cNvPr id="9" name="Straight Arrow Connector 8"/>
          <p:cNvCxnSpPr/>
          <p:nvPr/>
        </p:nvCxnSpPr>
        <p:spPr>
          <a:xfrm>
            <a:off x="1905000" y="5905500"/>
            <a:ext cx="7543800" cy="0"/>
          </a:xfrm>
          <a:prstGeom prst="straightConnector1">
            <a:avLst/>
          </a:prstGeom>
          <a:ln w="60325" cap="flat" cmpd="sng" algn="ctr">
            <a:solidFill>
              <a:schemeClr val="accent6">
                <a:alpha val="87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87809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1380C-DE85-8376-2FDB-A7839F2303E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5B10E0-9AA3-AAB7-581A-A4C3E85244A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5" name="TextBox 5">
            <a:extLst>
              <a:ext uri="{FF2B5EF4-FFF2-40B4-BE49-F238E27FC236}">
                <a16:creationId xmlns:a16="http://schemas.microsoft.com/office/drawing/2014/main" id="{9F54606E-FF63-8EF5-1F54-913D14CCBB2A}"/>
              </a:ext>
            </a:extLst>
          </p:cNvPr>
          <p:cNvSpPr txBox="1"/>
          <p:nvPr/>
        </p:nvSpPr>
        <p:spPr>
          <a:xfrm>
            <a:off x="609600" y="114300"/>
            <a:ext cx="7658100" cy="1654299"/>
          </a:xfrm>
          <a:prstGeom prst="rect">
            <a:avLst/>
          </a:prstGeom>
        </p:spPr>
        <p:txBody>
          <a:bodyPr wrap="square" lIns="0" tIns="0" rIns="0" bIns="0" rtlCol="0" anchor="t">
            <a:spAutoFit/>
          </a:bodyPr>
          <a:lstStyle/>
          <a:p>
            <a:pPr>
              <a:lnSpc>
                <a:spcPts val="12880"/>
              </a:lnSpc>
            </a:pPr>
            <a:r>
              <a:rPr lang="en-US" sz="7200" b="1" spc="-1" dirty="0">
                <a:solidFill>
                  <a:srgbClr val="ED7D31"/>
                </a:solidFill>
                <a:latin typeface="Calibri" panose="020F0502020204030204"/>
              </a:rPr>
              <a:t>What we will learn</a:t>
            </a:r>
          </a:p>
        </p:txBody>
      </p:sp>
      <p:sp>
        <p:nvSpPr>
          <p:cNvPr id="9" name="TextBox 8">
            <a:extLst>
              <a:ext uri="{FF2B5EF4-FFF2-40B4-BE49-F238E27FC236}">
                <a16:creationId xmlns:a16="http://schemas.microsoft.com/office/drawing/2014/main" id="{B0D40AFA-2E33-CBAF-D4EF-90AB94292E6D}"/>
              </a:ext>
            </a:extLst>
          </p:cNvPr>
          <p:cNvSpPr txBox="1"/>
          <p:nvPr/>
        </p:nvSpPr>
        <p:spPr>
          <a:xfrm>
            <a:off x="514350" y="2350667"/>
            <a:ext cx="12344400" cy="5865195"/>
          </a:xfrm>
          <a:prstGeom prst="rect">
            <a:avLst/>
          </a:prstGeom>
          <a:noFill/>
        </p:spPr>
        <p:txBody>
          <a:bodyPr wrap="square" rtlCol="0">
            <a:spAutoFit/>
          </a:bodyPr>
          <a:lstStyle/>
          <a:p>
            <a:pPr marL="743585" indent="-742950">
              <a:lnSpc>
                <a:spcPct val="90000"/>
              </a:lnSpc>
              <a:spcBef>
                <a:spcPts val="1000"/>
              </a:spcBef>
              <a:buClr>
                <a:srgbClr val="FFFFFF"/>
              </a:buClr>
              <a:buFont typeface="+mj-lt"/>
              <a:buAutoNum type="arabicPeriod"/>
            </a:pPr>
            <a:r>
              <a:rPr lang="en-US" sz="4400" dirty="0">
                <a:solidFill>
                  <a:schemeClr val="bg1"/>
                </a:solidFill>
                <a:latin typeface="Times New Roman" panose="02020603050405020304" pitchFamily="18" charset="0"/>
                <a:cs typeface="Times New Roman" panose="02020603050405020304" pitchFamily="18" charset="0"/>
              </a:rPr>
              <a:t>Introduction of AI</a:t>
            </a:r>
          </a:p>
          <a:p>
            <a:pPr marL="743585" indent="-742950">
              <a:lnSpc>
                <a:spcPct val="90000"/>
              </a:lnSpc>
              <a:spcBef>
                <a:spcPts val="1000"/>
              </a:spcBef>
              <a:buClr>
                <a:srgbClr val="FFFFFF"/>
              </a:buClr>
              <a:buFont typeface="+mj-lt"/>
              <a:buAutoNum type="arabicPeriod"/>
            </a:pPr>
            <a:r>
              <a:rPr lang="en-US" sz="4400" dirty="0">
                <a:solidFill>
                  <a:schemeClr val="bg1"/>
                </a:solidFill>
                <a:latin typeface="Times New Roman" panose="02020603050405020304" pitchFamily="18" charset="0"/>
                <a:cs typeface="Times New Roman" panose="02020603050405020304" pitchFamily="18" charset="0"/>
              </a:rPr>
              <a:t>Introduction to Generative AI</a:t>
            </a:r>
          </a:p>
          <a:p>
            <a:pPr marL="743585" indent="-742950">
              <a:lnSpc>
                <a:spcPct val="90000"/>
              </a:lnSpc>
              <a:spcBef>
                <a:spcPts val="1000"/>
              </a:spcBef>
              <a:buClr>
                <a:srgbClr val="FFFFFF"/>
              </a:buClr>
              <a:buFont typeface="+mj-lt"/>
              <a:buAutoNum type="arabicPeriod"/>
            </a:pPr>
            <a:r>
              <a:rPr lang="en-US" sz="4400" dirty="0">
                <a:solidFill>
                  <a:schemeClr val="bg1"/>
                </a:solidFill>
                <a:latin typeface="Times New Roman" panose="02020603050405020304" pitchFamily="18" charset="0"/>
                <a:cs typeface="Times New Roman" panose="02020603050405020304" pitchFamily="18" charset="0"/>
              </a:rPr>
              <a:t>What we can Generate with generative ai?</a:t>
            </a:r>
          </a:p>
          <a:p>
            <a:pPr marL="743585" indent="-742950">
              <a:lnSpc>
                <a:spcPct val="90000"/>
              </a:lnSpc>
              <a:spcBef>
                <a:spcPts val="1000"/>
              </a:spcBef>
              <a:buClr>
                <a:srgbClr val="FFFFFF"/>
              </a:buClr>
              <a:buFont typeface="+mj-lt"/>
              <a:buAutoNum type="arabicPeriod"/>
            </a:pPr>
            <a:r>
              <a:rPr lang="en-US" sz="4400" dirty="0">
                <a:solidFill>
                  <a:schemeClr val="bg1"/>
                </a:solidFill>
                <a:latin typeface="Times New Roman" panose="02020603050405020304" pitchFamily="18" charset="0"/>
                <a:cs typeface="Times New Roman" panose="02020603050405020304" pitchFamily="18" charset="0"/>
              </a:rPr>
              <a:t>Applications of Generative AI</a:t>
            </a:r>
          </a:p>
          <a:p>
            <a:pPr marL="743585" indent="-742950">
              <a:lnSpc>
                <a:spcPct val="90000"/>
              </a:lnSpc>
              <a:spcBef>
                <a:spcPts val="1000"/>
              </a:spcBef>
              <a:buClr>
                <a:srgbClr val="FFFFFF"/>
              </a:buClr>
              <a:buFont typeface="+mj-lt"/>
              <a:buAutoNum type="arabicPeriod"/>
            </a:pPr>
            <a:r>
              <a:rPr lang="en-US" sz="4400" dirty="0">
                <a:solidFill>
                  <a:schemeClr val="bg1"/>
                </a:solidFill>
                <a:latin typeface="Times New Roman" panose="02020603050405020304" pitchFamily="18" charset="0"/>
                <a:cs typeface="Times New Roman" panose="02020603050405020304" pitchFamily="18" charset="0"/>
              </a:rPr>
              <a:t>Future of Generative AI</a:t>
            </a:r>
          </a:p>
          <a:p>
            <a:pPr marL="743585" indent="-742950">
              <a:lnSpc>
                <a:spcPct val="90000"/>
              </a:lnSpc>
              <a:spcBef>
                <a:spcPts val="1000"/>
              </a:spcBef>
              <a:buClr>
                <a:srgbClr val="FFFFFF"/>
              </a:buClr>
              <a:buFont typeface="+mj-lt"/>
              <a:buAutoNum type="arabicPeriod"/>
            </a:pPr>
            <a:r>
              <a:rPr lang="en-US" sz="4400" dirty="0">
                <a:solidFill>
                  <a:schemeClr val="bg1"/>
                </a:solidFill>
                <a:latin typeface="Times New Roman" panose="02020603050405020304" pitchFamily="18" charset="0"/>
                <a:cs typeface="Times New Roman" panose="02020603050405020304" pitchFamily="18" charset="0"/>
              </a:rPr>
              <a:t>Large Language Models</a:t>
            </a:r>
          </a:p>
          <a:p>
            <a:pPr marL="743585" indent="-742950">
              <a:lnSpc>
                <a:spcPct val="90000"/>
              </a:lnSpc>
              <a:spcBef>
                <a:spcPts val="1000"/>
              </a:spcBef>
              <a:buClr>
                <a:srgbClr val="FFFFFF"/>
              </a:buClr>
              <a:buFont typeface="+mj-lt"/>
              <a:buAutoNum type="arabicPeriod"/>
            </a:pPr>
            <a:r>
              <a:rPr lang="en-US" sz="4400" dirty="0">
                <a:solidFill>
                  <a:schemeClr val="bg1"/>
                </a:solidFill>
                <a:latin typeface="Times New Roman" panose="02020603050405020304" pitchFamily="18" charset="0"/>
                <a:cs typeface="Times New Roman" panose="02020603050405020304" pitchFamily="18" charset="0"/>
              </a:rPr>
              <a:t>Top LLM in AI</a:t>
            </a:r>
          </a:p>
          <a:p>
            <a:pPr marL="743585" indent="-742950">
              <a:lnSpc>
                <a:spcPct val="90000"/>
              </a:lnSpc>
              <a:spcBef>
                <a:spcPts val="1000"/>
              </a:spcBef>
              <a:buClr>
                <a:srgbClr val="FFFFFF"/>
              </a:buClr>
              <a:buFont typeface="+mj-lt"/>
              <a:buAutoNum type="arabicPeriod"/>
            </a:pPr>
            <a:r>
              <a:rPr lang="en-US" sz="4400" dirty="0">
                <a:solidFill>
                  <a:schemeClr val="bg1"/>
                </a:solidFill>
                <a:latin typeface="Times New Roman" panose="02020603050405020304" pitchFamily="18" charset="0"/>
                <a:cs typeface="Times New Roman" panose="02020603050405020304" pitchFamily="18" charset="0"/>
              </a:rPr>
              <a:t>The Working Principle of LLMs</a:t>
            </a:r>
          </a:p>
        </p:txBody>
      </p:sp>
      <p:pic>
        <p:nvPicPr>
          <p:cNvPr id="3" name="Picture 2">
            <a:extLst>
              <a:ext uri="{FF2B5EF4-FFF2-40B4-BE49-F238E27FC236}">
                <a16:creationId xmlns:a16="http://schemas.microsoft.com/office/drawing/2014/main" id="{570E8194-3989-1189-4F9D-84546E3728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9800" y="4229100"/>
            <a:ext cx="6096000" cy="6232401"/>
          </a:xfrm>
          <a:prstGeom prst="rect">
            <a:avLst/>
          </a:prstGeom>
        </p:spPr>
      </p:pic>
    </p:spTree>
    <p:extLst>
      <p:ext uri="{BB962C8B-B14F-4D97-AF65-F5344CB8AC3E}">
        <p14:creationId xmlns:p14="http://schemas.microsoft.com/office/powerpoint/2010/main" val="1592043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01BEB-0707-4279-40D7-B8EA4D27911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322D9F7-4953-27FE-DA21-584F9B70FF98}"/>
              </a:ext>
            </a:extLst>
          </p:cNvPr>
          <p:cNvSpPr/>
          <p:nvPr/>
        </p:nvSpPr>
        <p:spPr>
          <a:xfrm>
            <a:off x="3441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FDBE8217-597E-B6C3-78D6-8A92D1E60616}"/>
              </a:ext>
            </a:extLst>
          </p:cNvPr>
          <p:cNvSpPr txBox="1"/>
          <p:nvPr/>
        </p:nvSpPr>
        <p:spPr>
          <a:xfrm>
            <a:off x="762000" y="-166231"/>
            <a:ext cx="12725400" cy="1464183"/>
          </a:xfrm>
          <a:prstGeom prst="rect">
            <a:avLst/>
          </a:prstGeom>
        </p:spPr>
        <p:txBody>
          <a:bodyPr wrap="square" lIns="0" tIns="0" rIns="0" bIns="0" rtlCol="0" anchor="t">
            <a:spAutoFit/>
          </a:bodyPr>
          <a:lstStyle/>
          <a:p>
            <a:pPr>
              <a:lnSpc>
                <a:spcPts val="12880"/>
              </a:lnSpc>
            </a:pPr>
            <a:r>
              <a:rPr lang="en-US" sz="6000" b="1" spc="-1" dirty="0">
                <a:solidFill>
                  <a:srgbClr val="ED7D31"/>
                </a:solidFill>
                <a:latin typeface="Calibri" panose="020F0502020204030204"/>
              </a:rPr>
              <a:t>INTRODUCTION OF AI</a:t>
            </a:r>
          </a:p>
        </p:txBody>
      </p:sp>
      <p:sp>
        <p:nvSpPr>
          <p:cNvPr id="4" name="TextBox 3">
            <a:extLst>
              <a:ext uri="{FF2B5EF4-FFF2-40B4-BE49-F238E27FC236}">
                <a16:creationId xmlns:a16="http://schemas.microsoft.com/office/drawing/2014/main" id="{A82785E8-91F6-A8A1-EE54-1ED66D09E925}"/>
              </a:ext>
            </a:extLst>
          </p:cNvPr>
          <p:cNvSpPr txBox="1"/>
          <p:nvPr/>
        </p:nvSpPr>
        <p:spPr>
          <a:xfrm>
            <a:off x="533400" y="1867436"/>
            <a:ext cx="14325600" cy="8094524"/>
          </a:xfrm>
          <a:prstGeom prst="rect">
            <a:avLst/>
          </a:prstGeom>
          <a:noFill/>
        </p:spPr>
        <p:txBody>
          <a:bodyPr wrap="square" rtlCol="0">
            <a:spAutoFit/>
          </a:bodyPr>
          <a:lstStyle/>
          <a:p>
            <a:r>
              <a:rPr lang="en-US" sz="4000" dirty="0">
                <a:solidFill>
                  <a:schemeClr val="bg1">
                    <a:lumMod val="95000"/>
                  </a:schemeClr>
                </a:solidFill>
                <a:latin typeface="Times New Roman" panose="02020603050405020304" pitchFamily="18" charset="0"/>
                <a:cs typeface="Times New Roman" panose="02020603050405020304" pitchFamily="18" charset="0"/>
              </a:rPr>
              <a:t>Artificial Intelligence (AI) is the branch of computer science that focuses on creating systems capable of performing tasks that typically require human intelligence. </a:t>
            </a:r>
          </a:p>
          <a:p>
            <a:r>
              <a:rPr lang="en-US" sz="4000" dirty="0">
                <a:solidFill>
                  <a:schemeClr val="bg1">
                    <a:lumMod val="95000"/>
                  </a:schemeClr>
                </a:solidFill>
                <a:latin typeface="Times New Roman" panose="02020603050405020304" pitchFamily="18" charset="0"/>
                <a:cs typeface="Times New Roman" panose="02020603050405020304" pitchFamily="18" charset="0"/>
              </a:rPr>
              <a:t>AI enables machines to </a:t>
            </a:r>
            <a:r>
              <a:rPr lang="en-US" sz="4000" dirty="0">
                <a:solidFill>
                  <a:schemeClr val="accent6">
                    <a:lumMod val="75000"/>
                  </a:schemeClr>
                </a:solidFill>
                <a:latin typeface="Times New Roman" panose="02020603050405020304" pitchFamily="18" charset="0"/>
                <a:cs typeface="Times New Roman" panose="02020603050405020304" pitchFamily="18" charset="0"/>
              </a:rPr>
              <a:t>Think, Learn, </a:t>
            </a:r>
            <a:r>
              <a:rPr lang="en-US" sz="4000" dirty="0">
                <a:solidFill>
                  <a:schemeClr val="bg1">
                    <a:lumMod val="95000"/>
                  </a:schemeClr>
                </a:solidFill>
                <a:latin typeface="Times New Roman" panose="02020603050405020304" pitchFamily="18" charset="0"/>
                <a:cs typeface="Times New Roman" panose="02020603050405020304" pitchFamily="18" charset="0"/>
              </a:rPr>
              <a:t>and</a:t>
            </a:r>
            <a:r>
              <a:rPr lang="en-US" sz="4000" dirty="0">
                <a:solidFill>
                  <a:schemeClr val="accent6">
                    <a:lumMod val="75000"/>
                  </a:schemeClr>
                </a:solidFill>
                <a:latin typeface="Times New Roman" panose="02020603050405020304" pitchFamily="18" charset="0"/>
                <a:cs typeface="Times New Roman" panose="02020603050405020304" pitchFamily="18" charset="0"/>
              </a:rPr>
              <a:t> Act </a:t>
            </a:r>
            <a:r>
              <a:rPr lang="en-US" sz="4000" dirty="0">
                <a:solidFill>
                  <a:schemeClr val="bg1">
                    <a:lumMod val="95000"/>
                  </a:schemeClr>
                </a:solidFill>
                <a:latin typeface="Times New Roman" panose="02020603050405020304" pitchFamily="18" charset="0"/>
                <a:cs typeface="Times New Roman" panose="02020603050405020304" pitchFamily="18" charset="0"/>
              </a:rPr>
              <a:t>like humans to automate complex tasks efficiently that require human intelligence. </a:t>
            </a:r>
          </a:p>
          <a:p>
            <a:endParaRPr lang="en-US" sz="4000" dirty="0">
              <a:solidFill>
                <a:schemeClr val="bg1">
                  <a:lumMod val="95000"/>
                </a:schemeClr>
              </a:solidFill>
              <a:latin typeface="Times New Roman" panose="02020603050405020304" pitchFamily="18" charset="0"/>
              <a:cs typeface="Times New Roman" panose="02020603050405020304" pitchFamily="18" charset="0"/>
            </a:endParaRPr>
          </a:p>
          <a:p>
            <a:r>
              <a:rPr lang="en-US" sz="4000" dirty="0">
                <a:solidFill>
                  <a:schemeClr val="accent6">
                    <a:lumMod val="75000"/>
                  </a:schemeClr>
                </a:solidFill>
                <a:latin typeface="Times New Roman" panose="02020603050405020304" pitchFamily="18" charset="0"/>
                <a:cs typeface="Times New Roman" panose="02020603050405020304" pitchFamily="18" charset="0"/>
              </a:rPr>
              <a:t>Examples</a:t>
            </a:r>
            <a:r>
              <a:rPr lang="en-US" sz="4000" dirty="0">
                <a:solidFill>
                  <a:schemeClr val="bg1">
                    <a:lumMod val="95000"/>
                  </a:schemeClr>
                </a:solidFill>
                <a:latin typeface="Times New Roman" panose="02020603050405020304" pitchFamily="18" charset="0"/>
                <a:cs typeface="Times New Roman" panose="02020603050405020304" pitchFamily="18" charset="0"/>
              </a:rPr>
              <a:t>: </a:t>
            </a:r>
          </a:p>
          <a:p>
            <a:endParaRPr lang="en-US" sz="4000" dirty="0">
              <a:solidFill>
                <a:schemeClr val="bg1">
                  <a:lumMod val="95000"/>
                </a:schemeClr>
              </a:solidFill>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4000" dirty="0">
                <a:solidFill>
                  <a:schemeClr val="bg1">
                    <a:lumMod val="95000"/>
                  </a:schemeClr>
                </a:solidFill>
                <a:latin typeface="Times New Roman" panose="02020603050405020304" pitchFamily="18" charset="0"/>
                <a:cs typeface="Times New Roman" panose="02020603050405020304" pitchFamily="18" charset="0"/>
              </a:rPr>
              <a:t>Smart homes </a:t>
            </a:r>
          </a:p>
          <a:p>
            <a:pPr marL="571500" indent="-571500">
              <a:buFont typeface="Arial" panose="020B0604020202020204" pitchFamily="34" charset="0"/>
              <a:buChar char="•"/>
            </a:pPr>
            <a:r>
              <a:rPr lang="en-US" sz="4000" dirty="0">
                <a:solidFill>
                  <a:schemeClr val="bg1">
                    <a:lumMod val="95000"/>
                  </a:schemeClr>
                </a:solidFill>
                <a:latin typeface="Times New Roman" panose="02020603050405020304" pitchFamily="18" charset="0"/>
                <a:cs typeface="Times New Roman" panose="02020603050405020304" pitchFamily="18" charset="0"/>
              </a:rPr>
              <a:t>Autonomous vehicles</a:t>
            </a:r>
          </a:p>
          <a:p>
            <a:pPr marL="571500" indent="-571500">
              <a:buFont typeface="Arial" panose="020B0604020202020204" pitchFamily="34" charset="0"/>
              <a:buChar char="•"/>
            </a:pPr>
            <a:r>
              <a:rPr lang="en-US" sz="4000" dirty="0">
                <a:solidFill>
                  <a:schemeClr val="bg1">
                    <a:lumMod val="95000"/>
                  </a:schemeClr>
                </a:solidFill>
                <a:latin typeface="Times New Roman" panose="02020603050405020304" pitchFamily="18" charset="0"/>
                <a:cs typeface="Times New Roman" panose="02020603050405020304" pitchFamily="18" charset="0"/>
              </a:rPr>
              <a:t>Recommendation systems</a:t>
            </a:r>
          </a:p>
          <a:p>
            <a:pPr marL="571500" indent="-571500">
              <a:buFont typeface="Arial" panose="020B0604020202020204" pitchFamily="34" charset="0"/>
              <a:buChar char="•"/>
            </a:pPr>
            <a:r>
              <a:rPr lang="en-US" sz="4000" dirty="0">
                <a:solidFill>
                  <a:schemeClr val="bg1">
                    <a:lumMod val="95000"/>
                  </a:schemeClr>
                </a:solidFill>
                <a:latin typeface="Times New Roman" panose="02020603050405020304" pitchFamily="18" charset="0"/>
                <a:cs typeface="Times New Roman" panose="02020603050405020304" pitchFamily="18" charset="0"/>
              </a:rPr>
              <a:t>Voice assistants </a:t>
            </a:r>
          </a:p>
          <a:p>
            <a:pPr marL="571500" indent="-571500">
              <a:buFont typeface="Arial" panose="020B0604020202020204" pitchFamily="34" charset="0"/>
              <a:buChar char="•"/>
            </a:pPr>
            <a:r>
              <a:rPr lang="en-US" sz="4000" dirty="0">
                <a:solidFill>
                  <a:schemeClr val="bg1">
                    <a:lumMod val="95000"/>
                  </a:schemeClr>
                </a:solidFill>
                <a:latin typeface="Times New Roman" panose="02020603050405020304" pitchFamily="18" charset="0"/>
                <a:cs typeface="Times New Roman" panose="02020603050405020304" pitchFamily="18" charset="0"/>
              </a:rPr>
              <a:t>ChatGpt.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5227" y="5464324"/>
            <a:ext cx="4544346" cy="4988907"/>
          </a:xfrm>
          <a:prstGeom prst="rect">
            <a:avLst/>
          </a:prstGeom>
        </p:spPr>
      </p:pic>
    </p:spTree>
    <p:extLst>
      <p:ext uri="{BB962C8B-B14F-4D97-AF65-F5344CB8AC3E}">
        <p14:creationId xmlns:p14="http://schemas.microsoft.com/office/powerpoint/2010/main" val="1262438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0866A-AF4D-9DEC-808D-774B459A0F9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4A06ED9-8B02-53DF-F110-1E518EAEE6DC}"/>
              </a:ext>
            </a:extLst>
          </p:cNvPr>
          <p:cNvSpPr/>
          <p:nvPr/>
        </p:nvSpPr>
        <p:spPr>
          <a:xfrm>
            <a:off x="3441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A61C171C-48F9-8F5F-1982-4B3B0E04EE7D}"/>
              </a:ext>
            </a:extLst>
          </p:cNvPr>
          <p:cNvSpPr txBox="1"/>
          <p:nvPr/>
        </p:nvSpPr>
        <p:spPr>
          <a:xfrm>
            <a:off x="609600" y="190500"/>
            <a:ext cx="12725400" cy="1443857"/>
          </a:xfrm>
          <a:prstGeom prst="rect">
            <a:avLst/>
          </a:prstGeom>
        </p:spPr>
        <p:txBody>
          <a:bodyPr wrap="square" lIns="0" tIns="0" rIns="0" bIns="0" rtlCol="0" anchor="t">
            <a:spAutoFit/>
          </a:bodyPr>
          <a:lstStyle/>
          <a:p>
            <a:pPr>
              <a:lnSpc>
                <a:spcPts val="12880"/>
              </a:lnSpc>
            </a:pPr>
            <a:r>
              <a:rPr lang="en-US" sz="6000" b="1" spc="-1" dirty="0">
                <a:solidFill>
                  <a:srgbClr val="ED7D31"/>
                </a:solidFill>
                <a:latin typeface="Calibri" panose="020F0502020204030204"/>
              </a:rPr>
              <a:t>INTRODUCTION OF GENERATIVE AI</a:t>
            </a:r>
          </a:p>
        </p:txBody>
      </p:sp>
      <p:sp>
        <p:nvSpPr>
          <p:cNvPr id="4" name="TextBox 3">
            <a:extLst>
              <a:ext uri="{FF2B5EF4-FFF2-40B4-BE49-F238E27FC236}">
                <a16:creationId xmlns:a16="http://schemas.microsoft.com/office/drawing/2014/main" id="{62B47F52-574F-8959-22C9-29AF771D56C8}"/>
              </a:ext>
            </a:extLst>
          </p:cNvPr>
          <p:cNvSpPr txBox="1"/>
          <p:nvPr/>
        </p:nvSpPr>
        <p:spPr>
          <a:xfrm>
            <a:off x="609600" y="2175026"/>
            <a:ext cx="13792200" cy="3785652"/>
          </a:xfrm>
          <a:prstGeom prst="rect">
            <a:avLst/>
          </a:prstGeom>
          <a:noFill/>
        </p:spPr>
        <p:txBody>
          <a:bodyPr wrap="square" rtlCol="0">
            <a:spAutoFit/>
          </a:bodyPr>
          <a:lstStyle/>
          <a:p>
            <a:pPr algn="just"/>
            <a:r>
              <a:rPr lang="en-US" sz="4000" dirty="0">
                <a:solidFill>
                  <a:schemeClr val="bg1">
                    <a:lumMod val="95000"/>
                  </a:schemeClr>
                </a:solidFill>
                <a:latin typeface="Times New Roman" panose="02020603050405020304" pitchFamily="18" charset="0"/>
                <a:cs typeface="Times New Roman" panose="02020603050405020304" pitchFamily="18" charset="0"/>
              </a:rPr>
              <a:t>Generative AI is a branch of artificial intelligence focused on creating new content, We can generate various types of data, such as </a:t>
            </a:r>
            <a:r>
              <a:rPr lang="en-US" sz="4000" dirty="0">
                <a:solidFill>
                  <a:schemeClr val="accent6">
                    <a:lumMod val="75000"/>
                  </a:schemeClr>
                </a:solidFill>
                <a:latin typeface="Times New Roman" panose="02020603050405020304" pitchFamily="18" charset="0"/>
                <a:cs typeface="Times New Roman" panose="02020603050405020304" pitchFamily="18" charset="0"/>
              </a:rPr>
              <a:t>images</a:t>
            </a:r>
            <a:r>
              <a:rPr lang="en-US" sz="4000" dirty="0">
                <a:solidFill>
                  <a:schemeClr val="bg1">
                    <a:lumMod val="95000"/>
                  </a:schemeClr>
                </a:solidFill>
                <a:latin typeface="Times New Roman" panose="02020603050405020304" pitchFamily="18" charset="0"/>
                <a:cs typeface="Times New Roman" panose="02020603050405020304" pitchFamily="18" charset="0"/>
              </a:rPr>
              <a:t>, </a:t>
            </a:r>
            <a:r>
              <a:rPr lang="en-US" sz="4000" dirty="0">
                <a:solidFill>
                  <a:schemeClr val="accent6">
                    <a:lumMod val="75000"/>
                  </a:schemeClr>
                </a:solidFill>
                <a:latin typeface="Times New Roman" panose="02020603050405020304" pitchFamily="18" charset="0"/>
                <a:cs typeface="Times New Roman" panose="02020603050405020304" pitchFamily="18" charset="0"/>
              </a:rPr>
              <a:t>text, music</a:t>
            </a:r>
            <a:r>
              <a:rPr lang="en-US" sz="4000" dirty="0">
                <a:solidFill>
                  <a:schemeClr val="bg1">
                    <a:lumMod val="95000"/>
                  </a:schemeClr>
                </a:solidFill>
                <a:latin typeface="Times New Roman" panose="02020603050405020304" pitchFamily="18" charset="0"/>
                <a:cs typeface="Times New Roman" panose="02020603050405020304" pitchFamily="18" charset="0"/>
              </a:rPr>
              <a:t>, or even </a:t>
            </a:r>
            <a:r>
              <a:rPr lang="en-US" sz="4000" dirty="0">
                <a:solidFill>
                  <a:schemeClr val="accent6">
                    <a:lumMod val="75000"/>
                  </a:schemeClr>
                </a:solidFill>
                <a:latin typeface="Times New Roman" panose="02020603050405020304" pitchFamily="18" charset="0"/>
                <a:cs typeface="Times New Roman" panose="02020603050405020304" pitchFamily="18" charset="0"/>
              </a:rPr>
              <a:t>videos</a:t>
            </a:r>
            <a:r>
              <a:rPr lang="en-US" sz="4000" dirty="0">
                <a:solidFill>
                  <a:schemeClr val="bg1">
                    <a:lumMod val="95000"/>
                  </a:schemeClr>
                </a:solidFill>
                <a:latin typeface="Times New Roman" panose="02020603050405020304" pitchFamily="18" charset="0"/>
                <a:cs typeface="Times New Roman" panose="02020603050405020304" pitchFamily="18" charset="0"/>
              </a:rPr>
              <a:t>, that closely mimic human-created content.</a:t>
            </a:r>
          </a:p>
          <a:p>
            <a:pPr algn="just"/>
            <a:r>
              <a:rPr lang="en-US" sz="4000" dirty="0">
                <a:solidFill>
                  <a:schemeClr val="bg1">
                    <a:lumMod val="95000"/>
                  </a:schemeClr>
                </a:solidFill>
                <a:latin typeface="Times New Roman" panose="02020603050405020304" pitchFamily="18" charset="0"/>
                <a:cs typeface="Times New Roman" panose="02020603050405020304" pitchFamily="18" charset="0"/>
              </a:rPr>
              <a:t>Generative AI is like a digital imagination engine: it learns from massive amounts of data and then invents new content.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350" y="6286500"/>
            <a:ext cx="6076950" cy="3343275"/>
          </a:xfrm>
          <a:prstGeom prst="rect">
            <a:avLst/>
          </a:prstGeom>
        </p:spPr>
      </p:pic>
    </p:spTree>
    <p:extLst>
      <p:ext uri="{BB962C8B-B14F-4D97-AF65-F5344CB8AC3E}">
        <p14:creationId xmlns:p14="http://schemas.microsoft.com/office/powerpoint/2010/main" val="1427434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EF929-85B9-1147-7259-ED687B25815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98139D-FB0C-0A15-1186-F4252E12C413}"/>
              </a:ext>
            </a:extLst>
          </p:cNvPr>
          <p:cNvSpPr/>
          <p:nvPr/>
        </p:nvSpPr>
        <p:spPr>
          <a:xfrm>
            <a:off x="-1966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01FF3242-3F05-07AA-CB1F-5496175F76A1}"/>
              </a:ext>
            </a:extLst>
          </p:cNvPr>
          <p:cNvSpPr txBox="1"/>
          <p:nvPr/>
        </p:nvSpPr>
        <p:spPr>
          <a:xfrm>
            <a:off x="5943600" y="190500"/>
            <a:ext cx="12725400" cy="1443857"/>
          </a:xfrm>
          <a:prstGeom prst="rect">
            <a:avLst/>
          </a:prstGeom>
        </p:spPr>
        <p:txBody>
          <a:bodyPr wrap="square" lIns="0" tIns="0" rIns="0" bIns="0" rtlCol="0" anchor="t">
            <a:spAutoFit/>
          </a:bodyPr>
          <a:lstStyle/>
          <a:p>
            <a:pPr>
              <a:lnSpc>
                <a:spcPts val="12880"/>
              </a:lnSpc>
            </a:pPr>
            <a:r>
              <a:rPr lang="en-US" sz="6000" b="1" spc="-1" dirty="0">
                <a:solidFill>
                  <a:srgbClr val="ED7D31"/>
                </a:solidFill>
                <a:latin typeface="Calibri" panose="020F0502020204030204"/>
              </a:rPr>
              <a:t>Job Roles In AI</a:t>
            </a:r>
          </a:p>
        </p:txBody>
      </p:sp>
      <p:pic>
        <p:nvPicPr>
          <p:cNvPr id="7" name="Picture 6" descr="A screenshot of a computer&#10;&#10;AI-generated content may be incorrect.">
            <a:extLst>
              <a:ext uri="{FF2B5EF4-FFF2-40B4-BE49-F238E27FC236}">
                <a16:creationId xmlns:a16="http://schemas.microsoft.com/office/drawing/2014/main" id="{F594FF08-776F-1271-59D9-3EB38C35D5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552700"/>
            <a:ext cx="13759218" cy="7010400"/>
          </a:xfrm>
          <a:prstGeom prst="rect">
            <a:avLst/>
          </a:prstGeom>
        </p:spPr>
      </p:pic>
    </p:spTree>
    <p:extLst>
      <p:ext uri="{BB962C8B-B14F-4D97-AF65-F5344CB8AC3E}">
        <p14:creationId xmlns:p14="http://schemas.microsoft.com/office/powerpoint/2010/main" val="2445634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3C56-2B9A-DCE4-833A-7D2667BB03D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0ED337-A315-A403-7746-08E718E527E0}"/>
              </a:ext>
            </a:extLst>
          </p:cNvPr>
          <p:cNvSpPr/>
          <p:nvPr/>
        </p:nvSpPr>
        <p:spPr>
          <a:xfrm>
            <a:off x="-1966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50BAA758-8094-603F-5CD2-45BD4CCB1CEA}"/>
              </a:ext>
            </a:extLst>
          </p:cNvPr>
          <p:cNvSpPr txBox="1"/>
          <p:nvPr/>
        </p:nvSpPr>
        <p:spPr>
          <a:xfrm>
            <a:off x="1278909" y="349301"/>
            <a:ext cx="12725400" cy="1443857"/>
          </a:xfrm>
          <a:prstGeom prst="rect">
            <a:avLst/>
          </a:prstGeom>
        </p:spPr>
        <p:txBody>
          <a:bodyPr wrap="square" lIns="0" tIns="0" rIns="0" bIns="0" rtlCol="0" anchor="t">
            <a:spAutoFit/>
          </a:bodyPr>
          <a:lstStyle/>
          <a:p>
            <a:pPr>
              <a:lnSpc>
                <a:spcPts val="12880"/>
              </a:lnSpc>
            </a:pPr>
            <a:r>
              <a:rPr lang="en-US" sz="6000" b="1" spc="-1" dirty="0">
                <a:solidFill>
                  <a:schemeClr val="bg1"/>
                </a:solidFill>
                <a:latin typeface="Calibri" panose="020F0502020204030204"/>
              </a:rPr>
              <a:t>S</a:t>
            </a:r>
            <a:r>
              <a:rPr lang="en-US" sz="6000" b="1" spc="-1" dirty="0">
                <a:solidFill>
                  <a:srgbClr val="ED7D31"/>
                </a:solidFill>
                <a:latin typeface="Calibri" panose="020F0502020204030204"/>
              </a:rPr>
              <a:t>alary </a:t>
            </a:r>
            <a:r>
              <a:rPr lang="en-US" sz="6000" b="1" spc="-1" dirty="0">
                <a:solidFill>
                  <a:schemeClr val="bg1"/>
                </a:solidFill>
                <a:latin typeface="Calibri" panose="020F0502020204030204"/>
              </a:rPr>
              <a:t>P</a:t>
            </a:r>
            <a:r>
              <a:rPr lang="en-US" sz="6000" b="1" spc="-1" dirty="0">
                <a:solidFill>
                  <a:srgbClr val="ED7D31"/>
                </a:solidFill>
                <a:latin typeface="Calibri" panose="020F0502020204030204"/>
              </a:rPr>
              <a:t>ackage </a:t>
            </a:r>
            <a:r>
              <a:rPr lang="en-US" sz="6000" b="1" spc="-1" dirty="0">
                <a:solidFill>
                  <a:schemeClr val="bg1"/>
                </a:solidFill>
                <a:latin typeface="Calibri" panose="020F0502020204030204"/>
              </a:rPr>
              <a:t>I</a:t>
            </a:r>
            <a:r>
              <a:rPr lang="en-US" sz="6000" b="1" spc="-1" dirty="0">
                <a:solidFill>
                  <a:srgbClr val="ED7D31"/>
                </a:solidFill>
                <a:latin typeface="Calibri" panose="020F0502020204030204"/>
              </a:rPr>
              <a:t>n AI </a:t>
            </a:r>
            <a:r>
              <a:rPr lang="en-US" sz="6000" b="1" spc="-1" dirty="0">
                <a:solidFill>
                  <a:schemeClr val="bg1"/>
                </a:solidFill>
                <a:latin typeface="Calibri" panose="020F0502020204030204"/>
              </a:rPr>
              <a:t>F</a:t>
            </a:r>
            <a:r>
              <a:rPr lang="en-US" sz="6000" b="1" spc="-1" dirty="0">
                <a:solidFill>
                  <a:schemeClr val="accent6"/>
                </a:solidFill>
                <a:latin typeface="Calibri" panose="020F0502020204030204"/>
              </a:rPr>
              <a:t>or</a:t>
            </a:r>
            <a:r>
              <a:rPr lang="en-US" sz="6000" b="1" spc="-1" dirty="0">
                <a:solidFill>
                  <a:schemeClr val="bg1"/>
                </a:solidFill>
                <a:latin typeface="Calibri" panose="020F0502020204030204"/>
              </a:rPr>
              <a:t> F</a:t>
            </a:r>
            <a:r>
              <a:rPr lang="en-US" sz="6000" b="1" spc="-1" dirty="0">
                <a:solidFill>
                  <a:schemeClr val="accent6"/>
                </a:solidFill>
                <a:latin typeface="Calibri" panose="020F0502020204030204"/>
              </a:rPr>
              <a:t>reshers</a:t>
            </a:r>
          </a:p>
        </p:txBody>
      </p:sp>
      <p:pic>
        <p:nvPicPr>
          <p:cNvPr id="6" name="Picture 5" descr="A screenshot of a computer&#10;&#10;AI-generated content may be incorrect.">
            <a:extLst>
              <a:ext uri="{FF2B5EF4-FFF2-40B4-BE49-F238E27FC236}">
                <a16:creationId xmlns:a16="http://schemas.microsoft.com/office/drawing/2014/main" id="{F0F6E2EE-E9FF-7CF3-1CC7-9A3A501E19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0" y="2476500"/>
            <a:ext cx="10094915" cy="6180560"/>
          </a:xfrm>
          <a:prstGeom prst="rect">
            <a:avLst/>
          </a:prstGeom>
        </p:spPr>
      </p:pic>
    </p:spTree>
    <p:extLst>
      <p:ext uri="{BB962C8B-B14F-4D97-AF65-F5344CB8AC3E}">
        <p14:creationId xmlns:p14="http://schemas.microsoft.com/office/powerpoint/2010/main" val="2977142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F18D4-E234-FB91-6863-566A36BBE3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E75580A-070A-955E-8D47-C8A1A5A8A5C6}"/>
              </a:ext>
            </a:extLst>
          </p:cNvPr>
          <p:cNvSpPr/>
          <p:nvPr/>
        </p:nvSpPr>
        <p:spPr>
          <a:xfrm>
            <a:off x="-1966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8F68E2EA-2CF1-CA07-3DB9-E6DEDB087CAE}"/>
              </a:ext>
            </a:extLst>
          </p:cNvPr>
          <p:cNvSpPr txBox="1"/>
          <p:nvPr/>
        </p:nvSpPr>
        <p:spPr>
          <a:xfrm>
            <a:off x="1278909" y="349301"/>
            <a:ext cx="12725400" cy="1443857"/>
          </a:xfrm>
          <a:prstGeom prst="rect">
            <a:avLst/>
          </a:prstGeom>
        </p:spPr>
        <p:txBody>
          <a:bodyPr wrap="square" lIns="0" tIns="0" rIns="0" bIns="0" rtlCol="0" anchor="t">
            <a:spAutoFit/>
          </a:bodyPr>
          <a:lstStyle/>
          <a:p>
            <a:pPr>
              <a:lnSpc>
                <a:spcPts val="12880"/>
              </a:lnSpc>
            </a:pPr>
            <a:r>
              <a:rPr lang="en-US" sz="6000" b="1" spc="-1" dirty="0">
                <a:solidFill>
                  <a:schemeClr val="bg1"/>
                </a:solidFill>
                <a:latin typeface="Calibri" panose="020F0502020204030204"/>
              </a:rPr>
              <a:t>S</a:t>
            </a:r>
            <a:r>
              <a:rPr lang="en-US" sz="6000" b="1" spc="-1" dirty="0">
                <a:solidFill>
                  <a:srgbClr val="ED7D31"/>
                </a:solidFill>
                <a:latin typeface="Calibri" panose="020F0502020204030204"/>
              </a:rPr>
              <a:t>alary </a:t>
            </a:r>
            <a:r>
              <a:rPr lang="en-US" sz="6000" b="1" spc="-1" dirty="0">
                <a:solidFill>
                  <a:schemeClr val="bg1"/>
                </a:solidFill>
                <a:latin typeface="Calibri" panose="020F0502020204030204"/>
              </a:rPr>
              <a:t>P</a:t>
            </a:r>
            <a:r>
              <a:rPr lang="en-US" sz="6000" b="1" spc="-1" dirty="0">
                <a:solidFill>
                  <a:srgbClr val="ED7D31"/>
                </a:solidFill>
                <a:latin typeface="Calibri" panose="020F0502020204030204"/>
              </a:rPr>
              <a:t>ackage </a:t>
            </a:r>
            <a:r>
              <a:rPr lang="en-US" sz="6000" b="1" spc="-1" dirty="0">
                <a:solidFill>
                  <a:schemeClr val="bg1"/>
                </a:solidFill>
                <a:latin typeface="Calibri" panose="020F0502020204030204"/>
              </a:rPr>
              <a:t>I</a:t>
            </a:r>
            <a:r>
              <a:rPr lang="en-US" sz="6000" b="1" spc="-1" dirty="0">
                <a:solidFill>
                  <a:srgbClr val="ED7D31"/>
                </a:solidFill>
                <a:latin typeface="Calibri" panose="020F0502020204030204"/>
              </a:rPr>
              <a:t>n AI </a:t>
            </a:r>
            <a:r>
              <a:rPr lang="en-US" sz="6000" b="1" spc="-1" dirty="0">
                <a:solidFill>
                  <a:schemeClr val="bg1"/>
                </a:solidFill>
                <a:latin typeface="Calibri" panose="020F0502020204030204"/>
              </a:rPr>
              <a:t>A</a:t>
            </a:r>
            <a:r>
              <a:rPr lang="en-US" sz="6000" b="1" spc="-1" dirty="0">
                <a:solidFill>
                  <a:srgbClr val="ED7D31"/>
                </a:solidFill>
                <a:latin typeface="Calibri" panose="020F0502020204030204"/>
              </a:rPr>
              <a:t>fter 5 </a:t>
            </a:r>
            <a:r>
              <a:rPr lang="en-US" sz="6000" b="1" spc="-1" dirty="0">
                <a:solidFill>
                  <a:schemeClr val="bg1"/>
                </a:solidFill>
                <a:latin typeface="Calibri" panose="020F0502020204030204"/>
              </a:rPr>
              <a:t>Y</a:t>
            </a:r>
            <a:r>
              <a:rPr lang="en-US" sz="6000" b="1" spc="-1" dirty="0">
                <a:solidFill>
                  <a:srgbClr val="ED7D31"/>
                </a:solidFill>
                <a:latin typeface="Calibri" panose="020F0502020204030204"/>
              </a:rPr>
              <a:t>ears</a:t>
            </a:r>
          </a:p>
        </p:txBody>
      </p:sp>
      <p:pic>
        <p:nvPicPr>
          <p:cNvPr id="4" name="Picture 3" descr="A screenshot of a computer">
            <a:extLst>
              <a:ext uri="{FF2B5EF4-FFF2-40B4-BE49-F238E27FC236}">
                <a16:creationId xmlns:a16="http://schemas.microsoft.com/office/drawing/2014/main" id="{5B3473B5-E47B-CC24-FFA2-1F282DA34E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8497" y="2142459"/>
            <a:ext cx="9126224" cy="7140422"/>
          </a:xfrm>
          <a:prstGeom prst="rect">
            <a:avLst/>
          </a:prstGeom>
        </p:spPr>
      </p:pic>
    </p:spTree>
    <p:extLst>
      <p:ext uri="{BB962C8B-B14F-4D97-AF65-F5344CB8AC3E}">
        <p14:creationId xmlns:p14="http://schemas.microsoft.com/office/powerpoint/2010/main" val="12140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0866A-AF4D-9DEC-808D-774B459A0F9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4A06ED9-8B02-53DF-F110-1E518EAEE6D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A61C171C-48F9-8F5F-1982-4B3B0E04EE7D}"/>
              </a:ext>
            </a:extLst>
          </p:cNvPr>
          <p:cNvSpPr txBox="1"/>
          <p:nvPr/>
        </p:nvSpPr>
        <p:spPr>
          <a:xfrm>
            <a:off x="609600" y="190500"/>
            <a:ext cx="12725400" cy="1654299"/>
          </a:xfrm>
          <a:prstGeom prst="rect">
            <a:avLst/>
          </a:prstGeom>
        </p:spPr>
        <p:txBody>
          <a:bodyPr wrap="square" lIns="0" tIns="0" rIns="0" bIns="0" rtlCol="0" anchor="t">
            <a:spAutoFit/>
          </a:bodyPr>
          <a:lstStyle/>
          <a:p>
            <a:pPr>
              <a:lnSpc>
                <a:spcPts val="12880"/>
              </a:lnSpc>
            </a:pPr>
            <a:r>
              <a:rPr lang="en-US" sz="6000" b="1" spc="-1" dirty="0">
                <a:solidFill>
                  <a:srgbClr val="ED7D31"/>
                </a:solidFill>
                <a:latin typeface="Calibri" panose="020F0502020204030204"/>
              </a:rPr>
              <a:t>GENAI IMPACT AREAS </a:t>
            </a:r>
          </a:p>
        </p:txBody>
      </p:sp>
      <p:sp>
        <p:nvSpPr>
          <p:cNvPr id="6" name="Oval 5"/>
          <p:cNvSpPr/>
          <p:nvPr/>
        </p:nvSpPr>
        <p:spPr>
          <a:xfrm>
            <a:off x="1447800" y="5581650"/>
            <a:ext cx="4953000" cy="283845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lumMod val="95000"/>
                    <a:lumOff val="5000"/>
                  </a:schemeClr>
                </a:solidFill>
              </a:rPr>
              <a:t>Customer Support</a:t>
            </a:r>
            <a:endParaRPr lang="en-IN" sz="4400" b="1" dirty="0">
              <a:solidFill>
                <a:schemeClr val="tx1">
                  <a:lumMod val="95000"/>
                  <a:lumOff val="5000"/>
                </a:schemeClr>
              </a:solidFill>
            </a:endParaRPr>
          </a:p>
        </p:txBody>
      </p:sp>
      <p:sp>
        <p:nvSpPr>
          <p:cNvPr id="7" name="Oval 6"/>
          <p:cNvSpPr/>
          <p:nvPr/>
        </p:nvSpPr>
        <p:spPr>
          <a:xfrm>
            <a:off x="6191250" y="6819900"/>
            <a:ext cx="5086350" cy="281940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lumMod val="95000"/>
                    <a:lumOff val="5000"/>
                  </a:schemeClr>
                </a:solidFill>
              </a:rPr>
              <a:t>Education</a:t>
            </a:r>
            <a:endParaRPr lang="en-IN" sz="4800" b="1" dirty="0">
              <a:solidFill>
                <a:schemeClr val="tx1">
                  <a:lumMod val="95000"/>
                  <a:lumOff val="5000"/>
                </a:schemeClr>
              </a:solidFill>
            </a:endParaRPr>
          </a:p>
        </p:txBody>
      </p:sp>
      <p:sp>
        <p:nvSpPr>
          <p:cNvPr id="8" name="Oval 7"/>
          <p:cNvSpPr/>
          <p:nvPr/>
        </p:nvSpPr>
        <p:spPr>
          <a:xfrm>
            <a:off x="8991600" y="4026313"/>
            <a:ext cx="3962400" cy="251460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lumMod val="95000"/>
                    <a:lumOff val="5000"/>
                  </a:schemeClr>
                </a:solidFill>
              </a:rPr>
              <a:t>Software Development</a:t>
            </a:r>
            <a:endParaRPr lang="en-IN" sz="3600" b="1" dirty="0">
              <a:solidFill>
                <a:schemeClr val="tx1">
                  <a:lumMod val="95000"/>
                  <a:lumOff val="5000"/>
                </a:schemeClr>
              </a:solidFill>
            </a:endParaRPr>
          </a:p>
        </p:txBody>
      </p:sp>
      <p:sp>
        <p:nvSpPr>
          <p:cNvPr id="9" name="Oval 8"/>
          <p:cNvSpPr/>
          <p:nvPr/>
        </p:nvSpPr>
        <p:spPr>
          <a:xfrm>
            <a:off x="3524250" y="3060287"/>
            <a:ext cx="5334000" cy="2502313"/>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lumMod val="95000"/>
                    <a:lumOff val="5000"/>
                  </a:schemeClr>
                </a:solidFill>
              </a:rPr>
              <a:t>Content Creation</a:t>
            </a:r>
            <a:endParaRPr lang="en-IN" sz="3600" b="1" dirty="0">
              <a:solidFill>
                <a:schemeClr val="tx1">
                  <a:lumMod val="95000"/>
                  <a:lumOff val="5000"/>
                </a:schemeClr>
              </a:solidFill>
            </a:endParaRPr>
          </a:p>
        </p:txBody>
      </p:sp>
    </p:spTree>
    <p:extLst>
      <p:ext uri="{BB962C8B-B14F-4D97-AF65-F5344CB8AC3E}">
        <p14:creationId xmlns:p14="http://schemas.microsoft.com/office/powerpoint/2010/main" val="2741649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8D42F-58CC-11C0-F900-986D3E54074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67818F5-5F71-9341-5AD6-D2C0AAE96D62}"/>
              </a:ext>
            </a:extLst>
          </p:cNvPr>
          <p:cNvSpPr/>
          <p:nvPr/>
        </p:nvSpPr>
        <p:spPr>
          <a:xfrm>
            <a:off x="-2458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r>
              <a:rPr lang="en-IN" dirty="0"/>
              <a:t>\</a:t>
            </a:r>
          </a:p>
        </p:txBody>
      </p:sp>
      <p:sp>
        <p:nvSpPr>
          <p:cNvPr id="13" name="TextBox 12">
            <a:extLst>
              <a:ext uri="{FF2B5EF4-FFF2-40B4-BE49-F238E27FC236}">
                <a16:creationId xmlns:a16="http://schemas.microsoft.com/office/drawing/2014/main" id="{8EF57136-8B00-B12C-8D63-9826FBC2EA9A}"/>
              </a:ext>
            </a:extLst>
          </p:cNvPr>
          <p:cNvSpPr txBox="1"/>
          <p:nvPr/>
        </p:nvSpPr>
        <p:spPr>
          <a:xfrm>
            <a:off x="990600" y="2933700"/>
            <a:ext cx="10896600" cy="5509200"/>
          </a:xfrm>
          <a:prstGeom prst="rect">
            <a:avLst/>
          </a:prstGeom>
          <a:noFill/>
        </p:spPr>
        <p:txBody>
          <a:bodyPr wrap="square" rtlCol="0">
            <a:spAutoFit/>
          </a:bodyPr>
          <a:lstStyle/>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Content Creation</a:t>
            </a:r>
            <a:endParaRPr lang="en-IN" sz="4400" dirty="0">
              <a:solidFill>
                <a:schemeClr val="bg1"/>
              </a:solidFill>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IN" sz="4400" dirty="0">
                <a:solidFill>
                  <a:schemeClr val="bg1"/>
                </a:solidFill>
                <a:latin typeface="Times New Roman" panose="02020603050405020304" pitchFamily="18" charset="0"/>
                <a:cs typeface="Times New Roman" panose="02020603050405020304" pitchFamily="18" charset="0"/>
              </a:rPr>
              <a:t>Images &amp; Art</a:t>
            </a:r>
          </a:p>
          <a:p>
            <a:pPr marL="571500" indent="-571500">
              <a:buFont typeface="Arial" panose="020B0604020202020204" pitchFamily="34" charset="0"/>
              <a:buChar char="•"/>
            </a:pPr>
            <a:r>
              <a:rPr lang="en-IN" sz="4400" dirty="0">
                <a:solidFill>
                  <a:schemeClr val="bg1"/>
                </a:solidFill>
                <a:latin typeface="Times New Roman" panose="02020603050405020304" pitchFamily="18" charset="0"/>
                <a:cs typeface="Times New Roman" panose="02020603050405020304" pitchFamily="18" charset="0"/>
              </a:rPr>
              <a:t>Videos &amp; Animation</a:t>
            </a:r>
          </a:p>
          <a:p>
            <a:pPr marL="571500" indent="-571500">
              <a:buFont typeface="Arial" panose="020B0604020202020204" pitchFamily="34" charset="0"/>
              <a:buChar char="•"/>
            </a:pPr>
            <a:r>
              <a:rPr lang="en-IN" sz="4400" dirty="0">
                <a:solidFill>
                  <a:schemeClr val="bg1"/>
                </a:solidFill>
                <a:latin typeface="Times New Roman" panose="02020603050405020304" pitchFamily="18" charset="0"/>
                <a:cs typeface="Times New Roman" panose="02020603050405020304" pitchFamily="18" charset="0"/>
              </a:rPr>
              <a:t>Music &amp; Audio</a:t>
            </a:r>
          </a:p>
          <a:p>
            <a:pPr marL="571500" indent="-571500">
              <a:buFont typeface="Arial" panose="020B0604020202020204" pitchFamily="34" charset="0"/>
              <a:buChar char="•"/>
            </a:pPr>
            <a:r>
              <a:rPr lang="en-IN" sz="4400" dirty="0">
                <a:solidFill>
                  <a:schemeClr val="bg1"/>
                </a:solidFill>
                <a:latin typeface="Times New Roman" panose="02020603050405020304" pitchFamily="18" charset="0"/>
                <a:cs typeface="Times New Roman" panose="02020603050405020304" pitchFamily="18" charset="0"/>
              </a:rPr>
              <a:t>Virtual Assistants (</a:t>
            </a:r>
            <a:r>
              <a:rPr lang="en-IN" sz="4400" dirty="0" err="1">
                <a:solidFill>
                  <a:schemeClr val="bg1"/>
                </a:solidFill>
                <a:latin typeface="Times New Roman" panose="02020603050405020304" pitchFamily="18" charset="0"/>
                <a:cs typeface="Times New Roman" panose="02020603050405020304" pitchFamily="18" charset="0"/>
              </a:rPr>
              <a:t>ChatBot</a:t>
            </a:r>
            <a:r>
              <a:rPr lang="en-IN" sz="4400" dirty="0">
                <a:solidFill>
                  <a:schemeClr val="bg1"/>
                </a:solidFill>
                <a:latin typeface="Times New Roman" panose="02020603050405020304" pitchFamily="18" charset="0"/>
                <a:cs typeface="Times New Roman" panose="02020603050405020304" pitchFamily="18" charset="0"/>
              </a:rPr>
              <a:t>)</a:t>
            </a:r>
          </a:p>
          <a:p>
            <a:pPr marL="571500" indent="-571500">
              <a:buFont typeface="Arial" panose="020B0604020202020204" pitchFamily="34" charset="0"/>
              <a:buChar char="•"/>
            </a:pPr>
            <a:r>
              <a:rPr lang="en-IN" sz="4400" dirty="0">
                <a:solidFill>
                  <a:schemeClr val="bg1"/>
                </a:solidFill>
                <a:latin typeface="Times New Roman" panose="02020603050405020304" pitchFamily="18" charset="0"/>
                <a:cs typeface="Times New Roman" panose="02020603050405020304" pitchFamily="18" charset="0"/>
              </a:rPr>
              <a:t>Code &amp; Software Development</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Code  Debugging</a:t>
            </a:r>
            <a:endParaRPr lang="en-IN" sz="4400" dirty="0">
              <a:solidFill>
                <a:schemeClr val="bg1"/>
              </a:solidFill>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Data Generation</a:t>
            </a:r>
          </a:p>
        </p:txBody>
      </p:sp>
      <p:sp>
        <p:nvSpPr>
          <p:cNvPr id="15" name="TextBox 14">
            <a:extLst>
              <a:ext uri="{FF2B5EF4-FFF2-40B4-BE49-F238E27FC236}">
                <a16:creationId xmlns:a16="http://schemas.microsoft.com/office/drawing/2014/main" id="{08E5ABD9-3616-242D-122A-60D36BD111F8}"/>
              </a:ext>
            </a:extLst>
          </p:cNvPr>
          <p:cNvSpPr txBox="1"/>
          <p:nvPr/>
        </p:nvSpPr>
        <p:spPr>
          <a:xfrm>
            <a:off x="457200" y="590192"/>
            <a:ext cx="14099458" cy="1015663"/>
          </a:xfrm>
          <a:prstGeom prst="rect">
            <a:avLst/>
          </a:prstGeom>
          <a:noFill/>
        </p:spPr>
        <p:txBody>
          <a:bodyPr wrap="square" rtlCol="0">
            <a:spAutoFit/>
          </a:bodyPr>
          <a:lstStyle/>
          <a:p>
            <a:r>
              <a:rPr lang="en-US" sz="6000" b="1" dirty="0">
                <a:solidFill>
                  <a:schemeClr val="accent6">
                    <a:lumMod val="75000"/>
                  </a:schemeClr>
                </a:solidFill>
              </a:rPr>
              <a:t>What we can Generate with </a:t>
            </a:r>
            <a:r>
              <a:rPr lang="en-IN" sz="6000" b="1" dirty="0">
                <a:solidFill>
                  <a:schemeClr val="bg1"/>
                </a:solidFill>
              </a:rPr>
              <a:t>GenAi</a:t>
            </a:r>
            <a:endParaRPr lang="en-US" sz="6000" b="1" dirty="0">
              <a:solidFill>
                <a:schemeClr val="bg1"/>
              </a:solidFill>
            </a:endParaRPr>
          </a:p>
        </p:txBody>
      </p:sp>
    </p:spTree>
    <p:extLst>
      <p:ext uri="{BB962C8B-B14F-4D97-AF65-F5344CB8AC3E}">
        <p14:creationId xmlns:p14="http://schemas.microsoft.com/office/powerpoint/2010/main" val="3960678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BD8E-0EFF-1672-97EC-AF0A5FFBC03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FBEFAA-E36B-1261-3191-DE6904A8203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endParaRPr lang="en-US" sz="1800" dirty="0">
              <a:solidFill>
                <a:schemeClr val="bg1"/>
              </a:solidFill>
            </a:endParaRPr>
          </a:p>
          <a:p>
            <a:pPr marL="635">
              <a:lnSpc>
                <a:spcPct val="90000"/>
              </a:lnSpc>
              <a:spcBef>
                <a:spcPts val="1000"/>
              </a:spcBef>
              <a:buClr>
                <a:srgbClr val="FFFFFF"/>
              </a:buClr>
            </a:pPr>
            <a:endParaRPr lang="en-US" dirty="0">
              <a:solidFill>
                <a:schemeClr val="bg1"/>
              </a:solidFill>
            </a:endParaRPr>
          </a:p>
          <a:p>
            <a:pPr marL="635">
              <a:lnSpc>
                <a:spcPct val="90000"/>
              </a:lnSpc>
              <a:spcBef>
                <a:spcPts val="1000"/>
              </a:spcBef>
              <a:buClr>
                <a:srgbClr val="FFFFFF"/>
              </a:buClr>
            </a:pPr>
            <a:r>
              <a:rPr lang="en-US" sz="1800" dirty="0">
                <a:solidFill>
                  <a:schemeClr val="bg1"/>
                </a:solidFill>
              </a:rPr>
              <a:t>	</a:t>
            </a:r>
            <a:endParaRPr lang="en-IN" dirty="0"/>
          </a:p>
        </p:txBody>
      </p:sp>
      <p:sp>
        <p:nvSpPr>
          <p:cNvPr id="4" name="TextBox 3">
            <a:extLst>
              <a:ext uri="{FF2B5EF4-FFF2-40B4-BE49-F238E27FC236}">
                <a16:creationId xmlns:a16="http://schemas.microsoft.com/office/drawing/2014/main" id="{196BACEA-78E1-A89C-7D21-06ACC2118FF4}"/>
              </a:ext>
            </a:extLst>
          </p:cNvPr>
          <p:cNvSpPr txBox="1"/>
          <p:nvPr/>
        </p:nvSpPr>
        <p:spPr>
          <a:xfrm>
            <a:off x="533400" y="419100"/>
            <a:ext cx="12698361" cy="1089529"/>
          </a:xfrm>
          <a:prstGeom prst="rect">
            <a:avLst/>
          </a:prstGeom>
          <a:noFill/>
        </p:spPr>
        <p:txBody>
          <a:bodyPr wrap="square" rtlCol="0">
            <a:spAutoFit/>
          </a:bodyPr>
          <a:lstStyle/>
          <a:p>
            <a:pPr marL="635">
              <a:lnSpc>
                <a:spcPct val="90000"/>
              </a:lnSpc>
              <a:spcBef>
                <a:spcPts val="1000"/>
              </a:spcBef>
              <a:buClr>
                <a:srgbClr val="FFFFFF"/>
              </a:buClr>
            </a:pPr>
            <a:r>
              <a:rPr lang="en-US" sz="7200" dirty="0">
                <a:solidFill>
                  <a:schemeClr val="accent6">
                    <a:lumMod val="75000"/>
                  </a:schemeClr>
                </a:solidFill>
              </a:rPr>
              <a:t>Application of </a:t>
            </a:r>
            <a:r>
              <a:rPr lang="en-US" sz="7200" dirty="0">
                <a:solidFill>
                  <a:schemeClr val="bg1"/>
                </a:solidFill>
              </a:rPr>
              <a:t>GenAI</a:t>
            </a:r>
            <a:endParaRPr lang="en-IN" sz="7200" dirty="0">
              <a:solidFill>
                <a:schemeClr val="bg1"/>
              </a:solidFill>
            </a:endParaRPr>
          </a:p>
        </p:txBody>
      </p:sp>
      <p:sp>
        <p:nvSpPr>
          <p:cNvPr id="3" name="TextBox 2"/>
          <p:cNvSpPr txBox="1"/>
          <p:nvPr/>
        </p:nvSpPr>
        <p:spPr>
          <a:xfrm>
            <a:off x="762000" y="2209800"/>
            <a:ext cx="13411200" cy="7909858"/>
          </a:xfrm>
          <a:prstGeom prst="rect">
            <a:avLst/>
          </a:prstGeom>
          <a:noFill/>
        </p:spPr>
        <p:txBody>
          <a:bodyPr wrap="square" rtlCol="0">
            <a:spAutoFit/>
          </a:bodyPr>
          <a:lstStyle/>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ChatGpt</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DeepSeek</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Gemini</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LLAMA</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Dall-e</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Stable Diffusion</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Midjourney</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Codex</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Jukebox</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AI  resume maker</a:t>
            </a:r>
          </a:p>
          <a:p>
            <a:pPr marL="571500" indent="-571500">
              <a:buFont typeface="Arial" panose="020B0604020202020204" pitchFamily="34" charset="0"/>
              <a:buChar char="•"/>
            </a:pPr>
            <a:r>
              <a:rPr lang="en-US" sz="4400" dirty="0">
                <a:solidFill>
                  <a:schemeClr val="bg1"/>
                </a:solidFill>
                <a:latin typeface="Times New Roman" panose="02020603050405020304" pitchFamily="18" charset="0"/>
                <a:cs typeface="Times New Roman" panose="02020603050405020304" pitchFamily="18" charset="0"/>
              </a:rPr>
              <a:t>Whisper (audio to text)</a:t>
            </a:r>
          </a:p>
          <a:p>
            <a:pPr marL="342900" indent="-342900">
              <a:buAutoNum type="arabicPeriod"/>
            </a:pPr>
            <a:endParaRPr lang="en-US" sz="2400" dirty="0">
              <a:solidFill>
                <a:schemeClr val="bg1"/>
              </a:solidFill>
            </a:endParaRPr>
          </a:p>
        </p:txBody>
      </p:sp>
    </p:spTree>
    <p:extLst>
      <p:ext uri="{BB962C8B-B14F-4D97-AF65-F5344CB8AC3E}">
        <p14:creationId xmlns:p14="http://schemas.microsoft.com/office/powerpoint/2010/main" val="3681097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5" name="TextBox 5"/>
          <p:cNvSpPr txBox="1"/>
          <p:nvPr/>
        </p:nvSpPr>
        <p:spPr>
          <a:xfrm>
            <a:off x="2286000" y="1673736"/>
            <a:ext cx="12344400" cy="1654299"/>
          </a:xfrm>
          <a:prstGeom prst="rect">
            <a:avLst/>
          </a:prstGeom>
        </p:spPr>
        <p:txBody>
          <a:bodyPr wrap="square" lIns="0" tIns="0" rIns="0" bIns="0" rtlCol="0" anchor="t">
            <a:spAutoFit/>
          </a:bodyPr>
          <a:lstStyle/>
          <a:p>
            <a:pPr>
              <a:lnSpc>
                <a:spcPts val="12880"/>
              </a:lnSpc>
            </a:pPr>
            <a:r>
              <a:rPr lang="en-US" sz="9600" b="1" spc="-1" dirty="0">
                <a:solidFill>
                  <a:srgbClr val="ED7D31"/>
                </a:solidFill>
                <a:latin typeface="Calibri" panose="020F0502020204030204"/>
              </a:rPr>
              <a:t>Large Language Model</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3162300"/>
            <a:ext cx="14006286" cy="73533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5" name="TextBox 5"/>
          <p:cNvSpPr txBox="1"/>
          <p:nvPr/>
        </p:nvSpPr>
        <p:spPr>
          <a:xfrm>
            <a:off x="723900" y="430151"/>
            <a:ext cx="7658100" cy="1484445"/>
          </a:xfrm>
          <a:prstGeom prst="rect">
            <a:avLst/>
          </a:prstGeom>
        </p:spPr>
        <p:txBody>
          <a:bodyPr wrap="square" lIns="0" tIns="0" rIns="0" bIns="0" rtlCol="0" anchor="t">
            <a:spAutoFit/>
          </a:bodyPr>
          <a:lstStyle/>
          <a:p>
            <a:pPr>
              <a:lnSpc>
                <a:spcPts val="12880"/>
              </a:lnSpc>
            </a:pPr>
            <a:r>
              <a:rPr lang="en-US" sz="7200" b="1" spc="-1" dirty="0">
                <a:solidFill>
                  <a:srgbClr val="ED7D31"/>
                </a:solidFill>
                <a:latin typeface="Calibri" panose="020F0502020204030204"/>
              </a:rPr>
              <a:t>What are LLMs ?</a:t>
            </a:r>
          </a:p>
        </p:txBody>
      </p:sp>
      <p:sp>
        <p:nvSpPr>
          <p:cNvPr id="9" name="TextBox 8"/>
          <p:cNvSpPr txBox="1"/>
          <p:nvPr/>
        </p:nvSpPr>
        <p:spPr>
          <a:xfrm>
            <a:off x="685800" y="2552700"/>
            <a:ext cx="13792200" cy="3839000"/>
          </a:xfrm>
          <a:prstGeom prst="rect">
            <a:avLst/>
          </a:prstGeom>
          <a:noFill/>
        </p:spPr>
        <p:txBody>
          <a:bodyPr wrap="square" rtlCol="0">
            <a:spAutoFit/>
          </a:bodyPr>
          <a:lstStyle/>
          <a:p>
            <a:pPr marL="635">
              <a:lnSpc>
                <a:spcPct val="90000"/>
              </a:lnSpc>
              <a:spcBef>
                <a:spcPts val="1000"/>
              </a:spcBef>
              <a:buClr>
                <a:srgbClr val="FFFFFF"/>
              </a:buClr>
            </a:pPr>
            <a:r>
              <a:rPr lang="en-US" sz="3600" dirty="0">
                <a:solidFill>
                  <a:schemeClr val="bg1"/>
                </a:solidFill>
              </a:rPr>
              <a:t>Large Language Models (LLMs) are powerful AI systems that can read, understand, and generate text like a human.</a:t>
            </a:r>
          </a:p>
          <a:p>
            <a:pPr marL="635">
              <a:lnSpc>
                <a:spcPct val="90000"/>
              </a:lnSpc>
              <a:spcBef>
                <a:spcPts val="1000"/>
              </a:spcBef>
              <a:buClr>
                <a:srgbClr val="FFFFFF"/>
              </a:buClr>
            </a:pPr>
            <a:r>
              <a:rPr lang="en-US" sz="3600" dirty="0">
                <a:solidFill>
                  <a:schemeClr val="bg1"/>
                </a:solidFill>
              </a:rPr>
              <a:t>LLM are trained on massive amount of data to understand and generate human like language.</a:t>
            </a:r>
          </a:p>
          <a:p>
            <a:pPr marL="635">
              <a:lnSpc>
                <a:spcPct val="90000"/>
              </a:lnSpc>
              <a:spcBef>
                <a:spcPts val="1000"/>
              </a:spcBef>
              <a:buClr>
                <a:srgbClr val="FFFFFF"/>
              </a:buClr>
            </a:pPr>
            <a:r>
              <a:rPr lang="en-US" sz="3600" dirty="0">
                <a:solidFill>
                  <a:schemeClr val="bg1"/>
                </a:solidFill>
              </a:rPr>
              <a:t>These models are built using deep learning techniques, specifically with architectures like transformers, LLM are learn from diverse sources such as books, articles, websites, and more.</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5621290"/>
            <a:ext cx="8933835" cy="4690263"/>
          </a:xfrm>
          <a:prstGeom prst="rect">
            <a:avLst/>
          </a:prstGeom>
        </p:spPr>
      </p:pic>
    </p:spTree>
    <p:extLst>
      <p:ext uri="{BB962C8B-B14F-4D97-AF65-F5344CB8AC3E}">
        <p14:creationId xmlns:p14="http://schemas.microsoft.com/office/powerpoint/2010/main" val="838606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5" name="TextBox 5"/>
          <p:cNvSpPr txBox="1"/>
          <p:nvPr/>
        </p:nvSpPr>
        <p:spPr>
          <a:xfrm>
            <a:off x="704850" y="4371"/>
            <a:ext cx="7658100" cy="1654299"/>
          </a:xfrm>
          <a:prstGeom prst="rect">
            <a:avLst/>
          </a:prstGeom>
        </p:spPr>
        <p:txBody>
          <a:bodyPr wrap="square" lIns="0" tIns="0" rIns="0" bIns="0" rtlCol="0" anchor="t">
            <a:spAutoFit/>
          </a:bodyPr>
          <a:lstStyle/>
          <a:p>
            <a:pPr>
              <a:lnSpc>
                <a:spcPts val="12880"/>
              </a:lnSpc>
            </a:pPr>
            <a:r>
              <a:rPr lang="en-US" sz="7200" b="1" spc="-1" dirty="0">
                <a:solidFill>
                  <a:srgbClr val="ED7D31"/>
                </a:solidFill>
                <a:latin typeface="Calibri" panose="020F0502020204030204"/>
              </a:rPr>
              <a:t>Top Ai LLMs </a:t>
            </a:r>
          </a:p>
        </p:txBody>
      </p:sp>
      <p:sp>
        <p:nvSpPr>
          <p:cNvPr id="9" name="TextBox 8"/>
          <p:cNvSpPr txBox="1"/>
          <p:nvPr/>
        </p:nvSpPr>
        <p:spPr>
          <a:xfrm>
            <a:off x="685800" y="2552700"/>
            <a:ext cx="13792200" cy="590931"/>
          </a:xfrm>
          <a:prstGeom prst="rect">
            <a:avLst/>
          </a:prstGeom>
          <a:noFill/>
        </p:spPr>
        <p:txBody>
          <a:bodyPr wrap="square" rtlCol="0">
            <a:spAutoFit/>
          </a:bodyPr>
          <a:lstStyle/>
          <a:p>
            <a:pPr marL="635">
              <a:lnSpc>
                <a:spcPct val="90000"/>
              </a:lnSpc>
              <a:spcBef>
                <a:spcPts val="1000"/>
              </a:spcBef>
              <a:buClr>
                <a:srgbClr val="FFFFFF"/>
              </a:buClr>
            </a:pPr>
            <a:endParaRPr lang="en-US" sz="3600" dirty="0">
              <a:solidFill>
                <a:schemeClr val="bg1"/>
              </a:solidFill>
            </a:endParaRPr>
          </a:p>
        </p:txBody>
      </p:sp>
      <p:pic>
        <p:nvPicPr>
          <p:cNvPr id="2054" name="Picture 6" descr="Google Gemini: all the details on the AI model Google hopes can take on  GPT-4 - The Ver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1589" y="2476500"/>
            <a:ext cx="3617299" cy="231211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ChatGPT-4o Review | PCMa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22020" y="2476500"/>
            <a:ext cx="3769580" cy="231210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LLM Spotlight: Llama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5000" y="5139601"/>
            <a:ext cx="3642540" cy="234499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6D191B3-17D2-A106-78AF-0C9333C33982}"/>
              </a:ext>
            </a:extLst>
          </p:cNvPr>
          <p:cNvPicPr>
            <a:picLocks noChangeAspect="1"/>
          </p:cNvPicPr>
          <p:nvPr/>
        </p:nvPicPr>
        <p:blipFill>
          <a:blip r:embed="rId6"/>
          <a:stretch>
            <a:fillRect/>
          </a:stretch>
        </p:blipFill>
        <p:spPr>
          <a:xfrm>
            <a:off x="1161589" y="7732436"/>
            <a:ext cx="3617299" cy="2076137"/>
          </a:xfrm>
          <a:prstGeom prst="rect">
            <a:avLst/>
          </a:prstGeom>
        </p:spPr>
      </p:pic>
      <p:pic>
        <p:nvPicPr>
          <p:cNvPr id="4" name="Picture 3">
            <a:extLst>
              <a:ext uri="{FF2B5EF4-FFF2-40B4-BE49-F238E27FC236}">
                <a16:creationId xmlns:a16="http://schemas.microsoft.com/office/drawing/2014/main" id="{1AE80202-0734-3272-D713-5EB81D76ABBC}"/>
              </a:ext>
            </a:extLst>
          </p:cNvPr>
          <p:cNvPicPr>
            <a:picLocks noChangeAspect="1"/>
          </p:cNvPicPr>
          <p:nvPr/>
        </p:nvPicPr>
        <p:blipFill>
          <a:blip r:embed="rId7"/>
          <a:stretch>
            <a:fillRect/>
          </a:stretch>
        </p:blipFill>
        <p:spPr>
          <a:xfrm>
            <a:off x="5262161" y="5067300"/>
            <a:ext cx="3773669" cy="2417297"/>
          </a:xfrm>
          <a:prstGeom prst="rect">
            <a:avLst/>
          </a:prstGeom>
        </p:spPr>
      </p:pic>
      <p:pic>
        <p:nvPicPr>
          <p:cNvPr id="6" name="Picture 5">
            <a:extLst>
              <a:ext uri="{FF2B5EF4-FFF2-40B4-BE49-F238E27FC236}">
                <a16:creationId xmlns:a16="http://schemas.microsoft.com/office/drawing/2014/main" id="{8B1D03C7-DDDC-D2DD-055F-AA28DA67C214}"/>
              </a:ext>
            </a:extLst>
          </p:cNvPr>
          <p:cNvPicPr>
            <a:picLocks noChangeAspect="1"/>
          </p:cNvPicPr>
          <p:nvPr/>
        </p:nvPicPr>
        <p:blipFill>
          <a:blip r:embed="rId8"/>
          <a:stretch>
            <a:fillRect/>
          </a:stretch>
        </p:blipFill>
        <p:spPr>
          <a:xfrm>
            <a:off x="9592751" y="7732436"/>
            <a:ext cx="3666049" cy="2076137"/>
          </a:xfrm>
          <a:prstGeom prst="rect">
            <a:avLst/>
          </a:prstGeom>
        </p:spPr>
      </p:pic>
      <p:pic>
        <p:nvPicPr>
          <p:cNvPr id="7" name="Picture 6">
            <a:extLst>
              <a:ext uri="{FF2B5EF4-FFF2-40B4-BE49-F238E27FC236}">
                <a16:creationId xmlns:a16="http://schemas.microsoft.com/office/drawing/2014/main" id="{6F04BC79-2207-34A5-21F6-D20AF3B1716C}"/>
              </a:ext>
            </a:extLst>
          </p:cNvPr>
          <p:cNvPicPr>
            <a:picLocks noChangeAspect="1"/>
          </p:cNvPicPr>
          <p:nvPr/>
        </p:nvPicPr>
        <p:blipFill>
          <a:blip r:embed="rId9"/>
          <a:stretch>
            <a:fillRect/>
          </a:stretch>
        </p:blipFill>
        <p:spPr>
          <a:xfrm>
            <a:off x="5301343" y="7734300"/>
            <a:ext cx="3766457" cy="2074273"/>
          </a:xfrm>
          <a:prstGeom prst="rect">
            <a:avLst/>
          </a:prstGeom>
        </p:spPr>
      </p:pic>
      <p:pic>
        <p:nvPicPr>
          <p:cNvPr id="8" name="Picture 7">
            <a:extLst>
              <a:ext uri="{FF2B5EF4-FFF2-40B4-BE49-F238E27FC236}">
                <a16:creationId xmlns:a16="http://schemas.microsoft.com/office/drawing/2014/main" id="{61EAD8A1-E3AB-F882-4DEA-234057C3C9BF}"/>
              </a:ext>
            </a:extLst>
          </p:cNvPr>
          <p:cNvPicPr>
            <a:picLocks noChangeAspect="1"/>
          </p:cNvPicPr>
          <p:nvPr/>
        </p:nvPicPr>
        <p:blipFill>
          <a:blip r:embed="rId10"/>
          <a:stretch>
            <a:fillRect/>
          </a:stretch>
        </p:blipFill>
        <p:spPr>
          <a:xfrm>
            <a:off x="1161589" y="5143500"/>
            <a:ext cx="3617299" cy="2143125"/>
          </a:xfrm>
          <a:prstGeom prst="rect">
            <a:avLst/>
          </a:prstGeom>
        </p:spPr>
      </p:pic>
      <p:pic>
        <p:nvPicPr>
          <p:cNvPr id="10" name="Picture 9">
            <a:extLst>
              <a:ext uri="{FF2B5EF4-FFF2-40B4-BE49-F238E27FC236}">
                <a16:creationId xmlns:a16="http://schemas.microsoft.com/office/drawing/2014/main" id="{99AE24FA-4431-3646-FD32-CCD1AFA7CC73}"/>
              </a:ext>
            </a:extLst>
          </p:cNvPr>
          <p:cNvPicPr>
            <a:picLocks noChangeAspect="1"/>
          </p:cNvPicPr>
          <p:nvPr/>
        </p:nvPicPr>
        <p:blipFill>
          <a:blip r:embed="rId11"/>
          <a:stretch>
            <a:fillRect/>
          </a:stretch>
        </p:blipFill>
        <p:spPr>
          <a:xfrm>
            <a:off x="9525000" y="2476500"/>
            <a:ext cx="3642540" cy="2312109"/>
          </a:xfrm>
          <a:prstGeom prst="rect">
            <a:avLst/>
          </a:prstGeom>
        </p:spPr>
      </p:pic>
    </p:spTree>
    <p:extLst>
      <p:ext uri="{BB962C8B-B14F-4D97-AF65-F5344CB8AC3E}">
        <p14:creationId xmlns:p14="http://schemas.microsoft.com/office/powerpoint/2010/main" val="576314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5" name="TextBox 5"/>
          <p:cNvSpPr txBox="1"/>
          <p:nvPr/>
        </p:nvSpPr>
        <p:spPr>
          <a:xfrm>
            <a:off x="723900" y="430151"/>
            <a:ext cx="12153900" cy="1654299"/>
          </a:xfrm>
          <a:prstGeom prst="rect">
            <a:avLst/>
          </a:prstGeom>
        </p:spPr>
        <p:txBody>
          <a:bodyPr wrap="square" lIns="0" tIns="0" rIns="0" bIns="0" rtlCol="0" anchor="t">
            <a:spAutoFit/>
          </a:bodyPr>
          <a:lstStyle/>
          <a:p>
            <a:pPr>
              <a:lnSpc>
                <a:spcPts val="12880"/>
              </a:lnSpc>
            </a:pPr>
            <a:r>
              <a:rPr lang="en-US" sz="7200" b="1" spc="-1" dirty="0">
                <a:solidFill>
                  <a:srgbClr val="ED7D31"/>
                </a:solidFill>
              </a:rPr>
              <a:t>The Working Principle of LLMs</a:t>
            </a:r>
            <a:endParaRPr lang="en-US" sz="7200" b="1" spc="-1" dirty="0">
              <a:solidFill>
                <a:srgbClr val="ED7D31"/>
              </a:solidFill>
              <a:latin typeface="Calibri" panose="020F0502020204030204"/>
            </a:endParaRPr>
          </a:p>
        </p:txBody>
      </p:sp>
      <p:sp>
        <p:nvSpPr>
          <p:cNvPr id="9" name="TextBox 8"/>
          <p:cNvSpPr txBox="1"/>
          <p:nvPr/>
        </p:nvSpPr>
        <p:spPr>
          <a:xfrm>
            <a:off x="723900" y="2800861"/>
            <a:ext cx="13792200" cy="1588127"/>
          </a:xfrm>
          <a:prstGeom prst="rect">
            <a:avLst/>
          </a:prstGeom>
          <a:noFill/>
        </p:spPr>
        <p:txBody>
          <a:bodyPr wrap="square" rtlCol="0">
            <a:spAutoFit/>
          </a:bodyPr>
          <a:lstStyle/>
          <a:p>
            <a:pPr marL="635">
              <a:lnSpc>
                <a:spcPct val="90000"/>
              </a:lnSpc>
              <a:spcBef>
                <a:spcPts val="1000"/>
              </a:spcBef>
              <a:buClr>
                <a:srgbClr val="FFFFFF"/>
              </a:buClr>
            </a:pPr>
            <a:r>
              <a:rPr lang="en-US" sz="3600" dirty="0">
                <a:solidFill>
                  <a:schemeClr val="bg1"/>
                </a:solidFill>
              </a:rPr>
              <a:t>LLMs learn from a huge amount of text to understand how language works. When you ask them something, they use the knowledge gained from learning to generate a reply that fits the question or context.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5314969"/>
            <a:ext cx="8305800" cy="4568626"/>
          </a:xfrm>
          <a:prstGeom prst="rect">
            <a:avLst/>
          </a:prstGeom>
        </p:spPr>
      </p:pic>
    </p:spTree>
    <p:extLst>
      <p:ext uri="{BB962C8B-B14F-4D97-AF65-F5344CB8AC3E}">
        <p14:creationId xmlns:p14="http://schemas.microsoft.com/office/powerpoint/2010/main" val="3760794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5" name="TextBox 5"/>
          <p:cNvSpPr txBox="1"/>
          <p:nvPr/>
        </p:nvSpPr>
        <p:spPr>
          <a:xfrm>
            <a:off x="723900" y="430151"/>
            <a:ext cx="12153900" cy="1484445"/>
          </a:xfrm>
          <a:prstGeom prst="rect">
            <a:avLst/>
          </a:prstGeom>
        </p:spPr>
        <p:txBody>
          <a:bodyPr wrap="square" lIns="0" tIns="0" rIns="0" bIns="0" rtlCol="0" anchor="t">
            <a:spAutoFit/>
          </a:bodyPr>
          <a:lstStyle/>
          <a:p>
            <a:pPr>
              <a:lnSpc>
                <a:spcPts val="12880"/>
              </a:lnSpc>
            </a:pPr>
            <a:r>
              <a:rPr lang="en-US" sz="7200" b="1" spc="-1" dirty="0">
                <a:solidFill>
                  <a:srgbClr val="ED7D31"/>
                </a:solidFill>
              </a:rPr>
              <a:t>Transformer</a:t>
            </a:r>
            <a:endParaRPr lang="en-US" sz="7200" b="1" spc="-1" dirty="0">
              <a:solidFill>
                <a:srgbClr val="ED7D31"/>
              </a:solidFill>
              <a:latin typeface="Calibri" panose="020F0502020204030204"/>
            </a:endParaRPr>
          </a:p>
        </p:txBody>
      </p:sp>
      <p:pic>
        <p:nvPicPr>
          <p:cNvPr id="3" name="Picture 2"/>
          <p:cNvPicPr>
            <a:picLocks noChangeAspect="1"/>
          </p:cNvPicPr>
          <p:nvPr/>
        </p:nvPicPr>
        <p:blipFill>
          <a:blip r:embed="rId3"/>
          <a:stretch>
            <a:fillRect/>
          </a:stretch>
        </p:blipFill>
        <p:spPr>
          <a:xfrm>
            <a:off x="4876800" y="2499797"/>
            <a:ext cx="7010400" cy="7202002"/>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4110811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DC046-5240-47F0-44CB-7C8B5B9DFDA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EE3B65-5CEF-AE4C-E315-05F581F64E85}"/>
              </a:ext>
            </a:extLst>
          </p:cNvPr>
          <p:cNvSpPr/>
          <p:nvPr/>
        </p:nvSpPr>
        <p:spPr>
          <a:xfrm>
            <a:off x="0" y="122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263E6BF8-F3D6-30FB-ED73-EA171DAE42FC}"/>
              </a:ext>
            </a:extLst>
          </p:cNvPr>
          <p:cNvSpPr txBox="1"/>
          <p:nvPr/>
        </p:nvSpPr>
        <p:spPr>
          <a:xfrm>
            <a:off x="723900" y="430151"/>
            <a:ext cx="12153900" cy="1484445"/>
          </a:xfrm>
          <a:prstGeom prst="rect">
            <a:avLst/>
          </a:prstGeom>
        </p:spPr>
        <p:txBody>
          <a:bodyPr wrap="square" lIns="0" tIns="0" rIns="0" bIns="0" rtlCol="0" anchor="t">
            <a:spAutoFit/>
          </a:bodyPr>
          <a:lstStyle/>
          <a:p>
            <a:pPr algn="ctr">
              <a:lnSpc>
                <a:spcPts val="12880"/>
              </a:lnSpc>
            </a:pPr>
            <a:r>
              <a:rPr lang="en-US" sz="7200" b="1" spc="-1" dirty="0">
                <a:solidFill>
                  <a:srgbClr val="ED7D31"/>
                </a:solidFill>
                <a:latin typeface="Calibri" panose="020F0502020204030204"/>
              </a:rPr>
              <a:t>What Is ChatGPT ?</a:t>
            </a:r>
          </a:p>
        </p:txBody>
      </p:sp>
      <p:sp>
        <p:nvSpPr>
          <p:cNvPr id="6" name="TextBox 5">
            <a:extLst>
              <a:ext uri="{FF2B5EF4-FFF2-40B4-BE49-F238E27FC236}">
                <a16:creationId xmlns:a16="http://schemas.microsoft.com/office/drawing/2014/main" id="{6953E654-A01C-3601-B3FE-AEE7E2905984}"/>
              </a:ext>
            </a:extLst>
          </p:cNvPr>
          <p:cNvSpPr txBox="1"/>
          <p:nvPr/>
        </p:nvSpPr>
        <p:spPr>
          <a:xfrm>
            <a:off x="8686800" y="2635121"/>
            <a:ext cx="5867756" cy="6186309"/>
          </a:xfrm>
          <a:prstGeom prst="rect">
            <a:avLst/>
          </a:prstGeom>
          <a:noFill/>
        </p:spPr>
        <p:txBody>
          <a:bodyPr wrap="square" rtlCol="0">
            <a:spAutoFit/>
          </a:bodyPr>
          <a:lstStyle/>
          <a:p>
            <a:pPr algn="just"/>
            <a:endParaRPr lang="en-US" sz="3600" dirty="0">
              <a:solidFill>
                <a:schemeClr val="bg1"/>
              </a:solidFill>
            </a:endParaRPr>
          </a:p>
          <a:p>
            <a:pPr>
              <a:defRPr sz="2160">
                <a:solidFill>
                  <a:srgbClr val="000000"/>
                </a:solidFill>
              </a:defRPr>
            </a:pPr>
            <a:r>
              <a:rPr lang="en-US" sz="3600" dirty="0">
                <a:solidFill>
                  <a:schemeClr val="bg1"/>
                </a:solidFill>
              </a:rPr>
              <a:t>ChatGPT is an AI language model developed by OpenAI designed to understand and generate human-like text. It uses deep learning techniques, specifically transformer-based architectures, to process and generate text.</a:t>
            </a:r>
          </a:p>
          <a:p>
            <a:pPr algn="just"/>
            <a:endParaRPr lang="en-IN" sz="3600" dirty="0">
              <a:solidFill>
                <a:schemeClr val="bg1"/>
              </a:solidFill>
            </a:endParaRPr>
          </a:p>
        </p:txBody>
      </p:sp>
      <p:pic>
        <p:nvPicPr>
          <p:cNvPr id="7" name="Picture 6">
            <a:extLst>
              <a:ext uri="{FF2B5EF4-FFF2-40B4-BE49-F238E27FC236}">
                <a16:creationId xmlns:a16="http://schemas.microsoft.com/office/drawing/2014/main" id="{800ABDD0-C150-A847-8889-66D31D1FC67D}"/>
              </a:ext>
            </a:extLst>
          </p:cNvPr>
          <p:cNvPicPr>
            <a:picLocks noChangeAspect="1"/>
          </p:cNvPicPr>
          <p:nvPr/>
        </p:nvPicPr>
        <p:blipFill>
          <a:blip r:embed="rId3"/>
          <a:stretch>
            <a:fillRect/>
          </a:stretch>
        </p:blipFill>
        <p:spPr>
          <a:xfrm>
            <a:off x="1409522" y="2781300"/>
            <a:ext cx="5867756" cy="5867756"/>
          </a:xfrm>
          <a:prstGeom prst="rect">
            <a:avLst/>
          </a:prstGeom>
        </p:spPr>
      </p:pic>
    </p:spTree>
    <p:extLst>
      <p:ext uri="{BB962C8B-B14F-4D97-AF65-F5344CB8AC3E}">
        <p14:creationId xmlns:p14="http://schemas.microsoft.com/office/powerpoint/2010/main" val="1914788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A60B7-0FF1-A28E-1BEA-7593D91BF7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F22AA48-6BD9-1080-5090-1F5EFAFF956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4" name="TextBox 3">
            <a:extLst>
              <a:ext uri="{FF2B5EF4-FFF2-40B4-BE49-F238E27FC236}">
                <a16:creationId xmlns:a16="http://schemas.microsoft.com/office/drawing/2014/main" id="{B2840BC4-A792-8EA5-D9B7-F73BB9FB4DC9}"/>
              </a:ext>
            </a:extLst>
          </p:cNvPr>
          <p:cNvSpPr txBox="1"/>
          <p:nvPr/>
        </p:nvSpPr>
        <p:spPr>
          <a:xfrm>
            <a:off x="2019300" y="875233"/>
            <a:ext cx="12268200" cy="969817"/>
          </a:xfrm>
          <a:prstGeom prst="rect">
            <a:avLst/>
          </a:prstGeom>
          <a:noFill/>
        </p:spPr>
        <p:txBody>
          <a:bodyPr wrap="square" rtlCol="0">
            <a:spAutoFit/>
          </a:bodyPr>
          <a:lstStyle/>
          <a:p>
            <a:pPr>
              <a:lnSpc>
                <a:spcPts val="6813"/>
              </a:lnSpc>
            </a:pPr>
            <a:r>
              <a:rPr lang="en-IN" sz="6600" b="1" dirty="0">
                <a:solidFill>
                  <a:schemeClr val="accent6"/>
                </a:solidFill>
              </a:rPr>
              <a:t>How Does ChatGPT Work?</a:t>
            </a:r>
            <a:endParaRPr lang="en-US" sz="6600" b="1" dirty="0">
              <a:solidFill>
                <a:schemeClr val="accent6"/>
              </a:solidFill>
            </a:endParaRPr>
          </a:p>
        </p:txBody>
      </p:sp>
      <p:sp>
        <p:nvSpPr>
          <p:cNvPr id="8" name="TextBox 7">
            <a:extLst>
              <a:ext uri="{FF2B5EF4-FFF2-40B4-BE49-F238E27FC236}">
                <a16:creationId xmlns:a16="http://schemas.microsoft.com/office/drawing/2014/main" id="{9B7F1ACA-6D38-2E69-6C92-7FC06787FBE7}"/>
              </a:ext>
            </a:extLst>
          </p:cNvPr>
          <p:cNvSpPr txBox="1"/>
          <p:nvPr/>
        </p:nvSpPr>
        <p:spPr>
          <a:xfrm>
            <a:off x="1815281" y="3690101"/>
            <a:ext cx="5334000" cy="4524315"/>
          </a:xfrm>
          <a:prstGeom prst="rect">
            <a:avLst/>
          </a:prstGeom>
          <a:noFill/>
        </p:spPr>
        <p:txBody>
          <a:bodyPr wrap="square" rtlCol="0">
            <a:spAutoFit/>
          </a:bodyPr>
          <a:lstStyle/>
          <a:p>
            <a:endParaRPr lang="en-US" sz="3200" dirty="0">
              <a:solidFill>
                <a:schemeClr val="bg1">
                  <a:lumMod val="95000"/>
                </a:schemeClr>
              </a:solidFill>
            </a:endParaRPr>
          </a:p>
          <a:p>
            <a:pPr>
              <a:defRPr sz="2160">
                <a:solidFill>
                  <a:srgbClr val="000000"/>
                </a:solidFill>
              </a:defRPr>
            </a:pPr>
            <a:r>
              <a:rPr lang="en-US" sz="3200" dirty="0">
                <a:solidFill>
                  <a:schemeClr val="bg1">
                    <a:lumMod val="95000"/>
                  </a:schemeClr>
                </a:solidFill>
              </a:rPr>
              <a:t>Based on GPT (Generative Pre-trained Transformer).</a:t>
            </a:r>
            <a:br>
              <a:rPr lang="en-US" sz="3200" dirty="0">
                <a:solidFill>
                  <a:schemeClr val="bg1">
                    <a:lumMod val="95000"/>
                  </a:schemeClr>
                </a:solidFill>
              </a:rPr>
            </a:br>
            <a:r>
              <a:rPr lang="en-US" sz="3200" dirty="0">
                <a:solidFill>
                  <a:schemeClr val="bg1">
                    <a:lumMod val="95000"/>
                  </a:schemeClr>
                </a:solidFill>
              </a:rPr>
              <a:t>Trained on large datasets and fine-tuned for specific tasks.</a:t>
            </a:r>
            <a:br>
              <a:rPr lang="en-US" sz="3200" dirty="0">
                <a:solidFill>
                  <a:schemeClr val="bg1">
                    <a:lumMod val="95000"/>
                  </a:schemeClr>
                </a:solidFill>
              </a:rPr>
            </a:br>
            <a:r>
              <a:rPr lang="en-US" sz="3200" dirty="0">
                <a:solidFill>
                  <a:schemeClr val="bg1">
                    <a:lumMod val="95000"/>
                  </a:schemeClr>
                </a:solidFill>
              </a:rPr>
              <a:t>Capable of text generation, conversation, summarization, and more.</a:t>
            </a:r>
          </a:p>
          <a:p>
            <a:endParaRPr lang="en-IN" sz="3200" dirty="0">
              <a:solidFill>
                <a:schemeClr val="bg1">
                  <a:lumMod val="95000"/>
                </a:schemeClr>
              </a:solidFill>
            </a:endParaRPr>
          </a:p>
        </p:txBody>
      </p:sp>
      <p:pic>
        <p:nvPicPr>
          <p:cNvPr id="9" name="Picture 8">
            <a:extLst>
              <a:ext uri="{FF2B5EF4-FFF2-40B4-BE49-F238E27FC236}">
                <a16:creationId xmlns:a16="http://schemas.microsoft.com/office/drawing/2014/main" id="{F4B10EE5-2503-A125-6414-E4C3C4869395}"/>
              </a:ext>
            </a:extLst>
          </p:cNvPr>
          <p:cNvPicPr>
            <a:picLocks noChangeAspect="1"/>
          </p:cNvPicPr>
          <p:nvPr/>
        </p:nvPicPr>
        <p:blipFill>
          <a:blip r:embed="rId3"/>
          <a:stretch>
            <a:fillRect/>
          </a:stretch>
        </p:blipFill>
        <p:spPr>
          <a:xfrm>
            <a:off x="8153400" y="2844035"/>
            <a:ext cx="6248400" cy="6248400"/>
          </a:xfrm>
          <a:prstGeom prst="rect">
            <a:avLst/>
          </a:prstGeom>
        </p:spPr>
      </p:pic>
    </p:spTree>
    <p:extLst>
      <p:ext uri="{BB962C8B-B14F-4D97-AF65-F5344CB8AC3E}">
        <p14:creationId xmlns:p14="http://schemas.microsoft.com/office/powerpoint/2010/main" val="2415464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078CC-14E2-E4EA-6D2D-CB8EFD9DD0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85689B-9E75-7706-382A-0E02B8FE4EE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4" name="TextBox 3">
            <a:extLst>
              <a:ext uri="{FF2B5EF4-FFF2-40B4-BE49-F238E27FC236}">
                <a16:creationId xmlns:a16="http://schemas.microsoft.com/office/drawing/2014/main" id="{95691811-9EEF-A17B-57CF-EF0AB2A299CF}"/>
              </a:ext>
            </a:extLst>
          </p:cNvPr>
          <p:cNvSpPr txBox="1"/>
          <p:nvPr/>
        </p:nvSpPr>
        <p:spPr>
          <a:xfrm>
            <a:off x="3009900" y="1105938"/>
            <a:ext cx="12268200" cy="990079"/>
          </a:xfrm>
          <a:prstGeom prst="rect">
            <a:avLst/>
          </a:prstGeom>
          <a:noFill/>
        </p:spPr>
        <p:txBody>
          <a:bodyPr wrap="square" rtlCol="0">
            <a:spAutoFit/>
          </a:bodyPr>
          <a:lstStyle/>
          <a:p>
            <a:pPr>
              <a:lnSpc>
                <a:spcPts val="6813"/>
              </a:lnSpc>
            </a:pPr>
            <a:r>
              <a:rPr lang="en-IN" sz="7200" b="1" dirty="0">
                <a:solidFill>
                  <a:schemeClr val="accent6"/>
                </a:solidFill>
              </a:rPr>
              <a:t>Applications of ChatGPT</a:t>
            </a:r>
            <a:endParaRPr lang="en-US" sz="7200" b="1" dirty="0">
              <a:solidFill>
                <a:schemeClr val="accent6"/>
              </a:solidFill>
            </a:endParaRPr>
          </a:p>
        </p:txBody>
      </p:sp>
      <p:sp>
        <p:nvSpPr>
          <p:cNvPr id="8" name="TextBox 7">
            <a:extLst>
              <a:ext uri="{FF2B5EF4-FFF2-40B4-BE49-F238E27FC236}">
                <a16:creationId xmlns:a16="http://schemas.microsoft.com/office/drawing/2014/main" id="{B8A753CD-E8B8-EEB9-442E-3005A1BF960F}"/>
              </a:ext>
            </a:extLst>
          </p:cNvPr>
          <p:cNvSpPr txBox="1"/>
          <p:nvPr/>
        </p:nvSpPr>
        <p:spPr>
          <a:xfrm>
            <a:off x="1600200" y="3162300"/>
            <a:ext cx="5334000" cy="5386090"/>
          </a:xfrm>
          <a:prstGeom prst="rect">
            <a:avLst/>
          </a:prstGeom>
          <a:noFill/>
        </p:spPr>
        <p:txBody>
          <a:bodyPr wrap="square" rtlCol="0">
            <a:spAutoFit/>
          </a:bodyPr>
          <a:lstStyle/>
          <a:p>
            <a:endParaRPr lang="en-US" sz="3200" dirty="0">
              <a:solidFill>
                <a:schemeClr val="bg1">
                  <a:lumMod val="95000"/>
                </a:schemeClr>
              </a:solidFill>
            </a:endParaRPr>
          </a:p>
          <a:p>
            <a:pPr marL="571500" indent="-571500">
              <a:buFont typeface="Arial" panose="020B0604020202020204" pitchFamily="34" charset="0"/>
              <a:buChar char="•"/>
              <a:defRPr sz="2160">
                <a:solidFill>
                  <a:srgbClr val="000000"/>
                </a:solidFill>
              </a:defRPr>
            </a:pPr>
            <a:r>
              <a:rPr lang="en-US" sz="4000" dirty="0">
                <a:solidFill>
                  <a:schemeClr val="bg1">
                    <a:lumMod val="95000"/>
                  </a:schemeClr>
                </a:solidFill>
              </a:rPr>
              <a:t>Education, Business, Healthcare, Entertainment</a:t>
            </a:r>
          </a:p>
          <a:p>
            <a:pPr marL="571500" indent="-571500">
              <a:buFont typeface="Arial" panose="020B0604020202020204" pitchFamily="34" charset="0"/>
              <a:buChar char="•"/>
              <a:defRPr sz="2160">
                <a:solidFill>
                  <a:srgbClr val="000000"/>
                </a:solidFill>
              </a:defRPr>
            </a:pPr>
            <a:r>
              <a:rPr lang="en-US" sz="4000" dirty="0">
                <a:solidFill>
                  <a:schemeClr val="bg1">
                    <a:lumMod val="95000"/>
                  </a:schemeClr>
                </a:solidFill>
              </a:rPr>
              <a:t>Examples: Tutoring, customer support, storytelling, symptom checking.</a:t>
            </a:r>
          </a:p>
          <a:p>
            <a:endParaRPr lang="en-IN" sz="3200" dirty="0">
              <a:solidFill>
                <a:schemeClr val="bg1">
                  <a:lumMod val="95000"/>
                </a:schemeClr>
              </a:solidFill>
            </a:endParaRPr>
          </a:p>
        </p:txBody>
      </p:sp>
      <p:pic>
        <p:nvPicPr>
          <p:cNvPr id="3" name="Picture 2">
            <a:extLst>
              <a:ext uri="{FF2B5EF4-FFF2-40B4-BE49-F238E27FC236}">
                <a16:creationId xmlns:a16="http://schemas.microsoft.com/office/drawing/2014/main" id="{837C4DE4-0329-FEFE-04F1-406DC52E9A51}"/>
              </a:ext>
            </a:extLst>
          </p:cNvPr>
          <p:cNvPicPr>
            <a:picLocks noChangeAspect="1"/>
          </p:cNvPicPr>
          <p:nvPr/>
        </p:nvPicPr>
        <p:blipFill>
          <a:blip r:embed="rId3"/>
          <a:stretch>
            <a:fillRect/>
          </a:stretch>
        </p:blipFill>
        <p:spPr>
          <a:xfrm>
            <a:off x="7162800" y="3073966"/>
            <a:ext cx="7289512" cy="6337801"/>
          </a:xfrm>
          <a:prstGeom prst="rect">
            <a:avLst/>
          </a:prstGeom>
        </p:spPr>
      </p:pic>
    </p:spTree>
    <p:extLst>
      <p:ext uri="{BB962C8B-B14F-4D97-AF65-F5344CB8AC3E}">
        <p14:creationId xmlns:p14="http://schemas.microsoft.com/office/powerpoint/2010/main" val="612322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3352800" y="4274640"/>
            <a:ext cx="9159913" cy="1737720"/>
          </a:xfrm>
          <a:prstGeom prst="rect">
            <a:avLst/>
          </a:prstGeom>
        </p:spPr>
        <p:txBody>
          <a:bodyPr wrap="square" lIns="0" tIns="0" rIns="0" bIns="0" rtlCol="0" anchor="t">
            <a:spAutoFit/>
          </a:bodyPr>
          <a:lstStyle/>
          <a:p>
            <a:pPr marL="0" lvl="0" indent="0">
              <a:lnSpc>
                <a:spcPts val="14510"/>
              </a:lnSpc>
              <a:spcBef>
                <a:spcPct val="0"/>
              </a:spcBef>
            </a:pPr>
            <a:r>
              <a:rPr lang="en-US" sz="10364" dirty="0">
                <a:solidFill>
                  <a:srgbClr val="FFFFFF"/>
                </a:solidFill>
                <a:latin typeface="Open Sans Extra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1797</TotalTime>
  <Words>797</Words>
  <Application>Microsoft Office PowerPoint</Application>
  <PresentationFormat>Custom</PresentationFormat>
  <Paragraphs>124</Paragraphs>
  <Slides>31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31</vt:i4>
      </vt:variant>
    </vt:vector>
  </HeadingPairs>
  <TitlesOfParts>
    <vt:vector size="40" baseType="lpstr">
      <vt:lpstr>Times New Roman</vt:lpstr>
      <vt:lpstr>Arial Black</vt:lpstr>
      <vt:lpstr>Arial</vt:lpstr>
      <vt:lpstr>Calibri</vt:lpstr>
      <vt:lpstr>Open Sans Extra Bold</vt:lpstr>
      <vt:lpstr>Lucida Calligraphy</vt:lpstr>
      <vt:lpstr>Aptos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Today’s Topic</dc:title>
  <cp:lastModifiedBy>K Jai</cp:lastModifiedBy>
  <cp:revision>90</cp:revision>
  <dcterms:created xsi:type="dcterms:W3CDTF">2006-08-16T00:00:00Z</dcterms:created>
  <dcterms:modified xsi:type="dcterms:W3CDTF">2025-03-20T23:57:59Z</dcterms:modified>
  <dc:identifier>DAGCebgPprk</dc:identifier>
</cp:coreProperties>
</file>